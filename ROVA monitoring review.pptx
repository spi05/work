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open a discussion with the model stakeholders on what the ROVA bi-weekly monitoring can and cannot tell us, and which metrics we propose to add. This is a draft for discussion. Figures taken from workbook screenshots are marked and will be reconfirmed on the full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scope: this is independent model validation, not an audit of the fraud team. We are looking at the monitoring as the ongoing evidence that ROVA performs. Everything here is for discussion and we want the owners to correct anything we have misread.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recap of the process document we reviewed earlier. The point is the link: pre-deployment testing is covered by the 12 steps, ongoing performance depends on the monitoring, so the monitoring has to be strong enough to support tuning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three steps. Ask the owners to confirm: whether volume is alerts or payments (we read it as alerts), and whether the 6-month tab uses the same SQL logic as the 3-month window. Stress that missing thresholds is a finding about documentation, not about the judgement of the experts.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explicit that the band cut-offs are inferred from colours in the screenshot. The key message is the second bullet: identical colour for very different evidence. We come back to this on the uncertainty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deficiencies as identified in the monitoring review. Items 2 and 3 are explained on the next slides. Item 4 is structural: without confirmed fraud outside ROVA alerts we can only measure precision, never recall. Item 1 is a reporting choice that can be fixed with data ROVA already screens.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careful with direction of bias: we do not know it yet. The photographed NULL rows were FP, but a handful of rows is not evidence. The request to the owners is a simple count by result. Also confirm whether the 6-month tab uses the same SQL logic.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hypothesis we can test, not a conclusion. If the lag index is below 1 across most scenarios at the same time, that is the signature of lag. If it is concentrated in a few scenarios, it is more likely real change. The minimum TP count for the index is set in the workbook Parameters tab (currently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maths light for this audience. Key phrase: how much would the number move if we saw a handful more alerts. The minimum alert and TP thresholds are our own working values from the template and are open for discussion. 3.8 is 1.96 squared (3.84).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Concentration tells us where tuning effort pays off and which scenarios may be redundant. We use a correlation of monthly alerts only as a rough proxy for overlap between scenarios, since there is no alert-level link between them in the data. The spike threshold of 2 is a parameter in the workbook.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bridge from findings to asks. The false negative row is the hardest: without a source of missed fraud we can only offer a proxy, and the owners may know of one (for example customer reports or scheme data). We are not asking for all of it at once; the next steps slide sets priorities.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these as design principles, not a demand to rebuild the workbook. The thresholds are for the owners to set; we only ask that they are written down and applied consistently. Mention that alert-level reductions already need CFCPO/MLRO sign-off, so a defined trigger helps that governance route.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asking for answers to the four questions first, since they decide how much of our analysis stands. No dates are set here; agree them in the room. Our analysis workbook is ready to run on the full export as soon as the data arrives.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only. The same formulas are implemented in the ROVA_monitoring_challenge workbook, so every number on these slides can be reproduced when the full data is loaded.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924520"/>
            <a:ext cx="10566400" cy="1061641"/>
          </a:xfrm>
          <a:prstGeom prst="rect">
            <a:avLst/>
          </a:prstGeom>
          <a:noFill/>
          <a:ln/>
        </p:spPr>
        <p:txBody>
          <a:bodyPr wrap="square" lIns="0" tIns="0" rIns="0" bIns="0" rtlCol="0" anchor="t"/>
          <a:lstStyle>
            <a:lvl1pPr algn="l" indent="0" marL="0">
              <a:lnSpc>
                <a:spcPct val="115000"/>
              </a:lnSpc>
              <a:buNone/>
              <a:defRPr lang="en-US" sz="3800" dirty="0">
                <a:solidFill>
                  <a:srgbClr val="16202E"/>
                </a:solidFill>
                <a:latin typeface="Georgia" pitchFamily="34" charset="0"/>
                <a:ea typeface="Georgia" pitchFamily="34" charset="-122"/>
                <a:cs typeface="Georgia" pitchFamily="34" charset="-120"/>
              </a:defRPr>
            </a:lvl1pPr>
          </a:lstStyle>
          <a:p>
            <a:pPr algn="l" indent="0" marL="0">
              <a:lnSpc>
                <a:spcPct val="115000"/>
              </a:lnSpc>
              <a:buNone/>
            </a:pPr>
            <a:endParaRPr lang="en-US" sz="3800" dirty="0"/>
          </a:p>
        </p:txBody>
      </p:sp>
      <p:sp>
        <p:nvSpPr>
          <p:cNvPr id="3" name="Text Placeholder 2"/>
          <p:cNvSpPr/>
          <p:nvPr>
            <p:ph idx="101" type="body"/>
          </p:nvPr>
        </p:nvSpPr>
        <p:spPr>
          <a:xfrm>
            <a:off x="812800" y="2290961"/>
            <a:ext cx="10566400" cy="3754239"/>
          </a:xfrm>
          <a:prstGeom prst="rect">
            <a:avLst/>
          </a:prstGeom>
          <a:noFill/>
          <a:ln/>
        </p:spPr>
        <p:txBody>
          <a:bodyPr wrap="square" lIns="0" tIns="0" rIns="0" bIns="0" rtlCol="0" anchor="t"/>
          <a:lstStyle>
            <a:lvl1pPr algn="l" indent="0" marL="0">
              <a:lnSpc>
                <a:spcPct val="140000"/>
              </a:lnSpc>
              <a:buNone/>
              <a:defRPr lang="en-US" sz="1600" dirty="0">
                <a:solidFill>
                  <a:srgbClr val="16202E"/>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924520"/>
            <a:ext cx="10566400" cy="1061641"/>
          </a:xfrm>
          <a:prstGeom prst="rect">
            <a:avLst/>
          </a:prstGeom>
          <a:noFill/>
          <a:ln/>
        </p:spPr>
        <p:txBody>
          <a:bodyPr wrap="square" lIns="0" tIns="0" rIns="0" bIns="0" rtlCol="0" anchor="t"/>
          <a:lstStyle>
            <a:lvl1pPr algn="l" indent="0" marL="0">
              <a:lnSpc>
                <a:spcPct val="115000"/>
              </a:lnSpc>
              <a:buNone/>
              <a:defRPr lang="en-US" sz="3800" dirty="0">
                <a:solidFill>
                  <a:srgbClr val="16202E"/>
                </a:solidFill>
                <a:latin typeface="Georgia" pitchFamily="34" charset="0"/>
                <a:ea typeface="Georgia" pitchFamily="34" charset="-122"/>
                <a:cs typeface="Georgia" pitchFamily="34" charset="-120"/>
              </a:defRPr>
            </a:lvl1pPr>
          </a:lstStyle>
          <a:p>
            <a:pPr algn="l" indent="0" marL="0">
              <a:lnSpc>
                <a:spcPct val="115000"/>
              </a:lnSpc>
              <a:buNone/>
            </a:pPr>
            <a:endParaRPr lang="en-US" sz="3800" dirty="0"/>
          </a:p>
        </p:txBody>
      </p:sp>
      <p:sp>
        <p:nvSpPr>
          <p:cNvPr id="3" name="Text Placeholder 2"/>
          <p:cNvSpPr/>
          <p:nvPr>
            <p:ph idx="101" type="body"/>
          </p:nvPr>
        </p:nvSpPr>
        <p:spPr>
          <a:xfrm>
            <a:off x="812800" y="2290961"/>
            <a:ext cx="10566400" cy="3754239"/>
          </a:xfrm>
          <a:prstGeom prst="rect">
            <a:avLst/>
          </a:prstGeom>
          <a:noFill/>
          <a:ln/>
        </p:spPr>
        <p:txBody>
          <a:bodyPr wrap="square" lIns="0" tIns="0" rIns="0" bIns="0" rtlCol="0" anchor="t"/>
          <a:lstStyle>
            <a:lvl1pPr algn="l" indent="0" marL="0">
              <a:lnSpc>
                <a:spcPct val="140000"/>
              </a:lnSpc>
              <a:buNone/>
              <a:defRPr lang="en-US" sz="1600" dirty="0">
                <a:solidFill>
                  <a:srgbClr val="16202E"/>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02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7FC1D6"/>
                </a:solidFill>
                <a:latin typeface="Arial" pitchFamily="34" charset="0"/>
                <a:ea typeface="Arial" pitchFamily="34" charset="-122"/>
                <a:cs typeface="Arial" pitchFamily="34" charset="-120"/>
              </a:rPr>
              <a:t>UK MODEL RISK MANAGEMENT</a:t>
            </a:r>
            <a:endParaRPr lang="en-US" sz="1200" dirty="0"/>
          </a:p>
        </p:txBody>
      </p:sp>
      <p:sp>
        <p:nvSpPr>
          <p:cNvPr id="3" name="Text 1"/>
          <p:cNvSpPr/>
          <p:nvPr>
            <p:ph type="title"/>
          </p:nvPr>
        </p:nvSpPr>
        <p:spPr>
          <a:xfrm>
            <a:off x="812800" y="2726680"/>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0" i="0" dirty="0">
                <a:solidFill>
                  <a:srgbClr val="F2F5F8"/>
                </a:solidFill>
                <a:latin typeface="Georgia" pitchFamily="18" charset="0"/>
                <a:ea typeface="Georgia" pitchFamily="18" charset="-122"/>
                <a:cs typeface="Georgia" pitchFamily="18" charset="-120"/>
              </a:rPr>
              <a:t>ROVA scenario monitoring</a:t>
            </a:r>
            <a:endParaRPr lang="en-US" sz="6000" dirty="0"/>
          </a:p>
        </p:txBody>
      </p:sp>
      <p:sp>
        <p:nvSpPr>
          <p:cNvPr id="4" name="Text 2"/>
          <p:cNvSpPr/>
          <p:nvPr/>
        </p:nvSpPr>
        <p:spPr>
          <a:xfrm>
            <a:off x="812800" y="3729980"/>
            <a:ext cx="10883392"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AFC0D0"/>
                </a:solidFill>
                <a:latin typeface="Arial" pitchFamily="34" charset="0"/>
                <a:ea typeface="Arial" pitchFamily="34" charset="-122"/>
                <a:cs typeface="Arial" pitchFamily="34" charset="-120"/>
              </a:rPr>
              <a:t>Review and challenge of the bi-weekly TP and FP monitoring</a:t>
            </a:r>
            <a:endParaRPr lang="en-US" sz="2000" dirty="0"/>
          </a:p>
        </p:txBody>
      </p:sp>
      <p:sp>
        <p:nvSpPr>
          <p:cNvPr id="5" name="Text 3"/>
          <p:cNvSpPr/>
          <p:nvPr/>
        </p:nvSpPr>
        <p:spPr>
          <a:xfrm>
            <a:off x="812800" y="576074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FC0D0"/>
                </a:solidFill>
                <a:latin typeface="Arial" pitchFamily="34" charset="0"/>
                <a:ea typeface="Arial" pitchFamily="34" charset="-122"/>
                <a:cs typeface="Arial" pitchFamily="34" charset="-120"/>
              </a:rPr>
              <a:t>Discussion draft · 26 October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B7A93"/>
                </a:solidFill>
                <a:latin typeface="Arial" pitchFamily="34" charset="0"/>
                <a:ea typeface="Arial" pitchFamily="34" charset="-122"/>
                <a:cs typeface="Arial" pitchFamily="34" charset="-120"/>
              </a:rPr>
              <a:t>SCOPE</a:t>
            </a:r>
            <a:endParaRPr lang="en-US" sz="1200" dirty="0"/>
          </a:p>
        </p:txBody>
      </p:sp>
      <p:sp>
        <p:nvSpPr>
          <p:cNvPr id="3" name="Text 1"/>
          <p:cNvSpPr/>
          <p:nvPr>
            <p:ph type="title"/>
          </p:nvPr>
        </p:nvSpPr>
        <p:spPr>
          <a:xfrm>
            <a:off x="812800" y="924520"/>
            <a:ext cx="10883392" cy="1087041"/>
          </a:xfrm>
          <a:prstGeom prst="rect">
            <a:avLst/>
          </a:prstGeom>
          <a:noFill/>
          <a:ln/>
        </p:spPr>
        <p:txBody>
          <a:bodyPr wrap="square" lIns="0" tIns="0" rIns="0" bIns="0" rtlCol="0" anchor="t">
            <a:normAutofit/>
          </a:bodyPr>
          <a:lstStyle/>
          <a:p>
            <a:pPr algn="l" indent="0" marL="0">
              <a:lnSpc>
                <a:spcPts val="4180"/>
              </a:lnSpc>
              <a:buNone/>
            </a:pPr>
            <a:r>
              <a:rPr lang="en-US" sz="3800" b="0" i="0" dirty="0">
                <a:solidFill>
                  <a:srgbClr val="16202E"/>
                </a:solidFill>
                <a:latin typeface="Georgia" pitchFamily="18" charset="0"/>
                <a:ea typeface="Georgia" pitchFamily="18" charset="-122"/>
                <a:cs typeface="Georgia" pitchFamily="18" charset="-120"/>
              </a:rPr>
              <a:t>We are challenging whether the monitoring can show ROVA is still working</a:t>
            </a:r>
            <a:endParaRPr lang="en-US" sz="3800" dirty="0"/>
          </a:p>
        </p:txBody>
      </p:sp>
      <p:sp>
        <p:nvSpPr>
          <p:cNvPr id="4" name="Shape 2"/>
          <p:cNvSpPr/>
          <p:nvPr/>
        </p:nvSpPr>
        <p:spPr>
          <a:xfrm>
            <a:off x="812800" y="2341761"/>
            <a:ext cx="3318917" cy="3805039"/>
          </a:xfrm>
          <a:prstGeom prst="rect">
            <a:avLst/>
          </a:prstGeom>
          <a:solidFill>
            <a:srgbClr val="FFFFFF"/>
          </a:solidFill>
          <a:ln/>
        </p:spPr>
      </p:sp>
      <p:sp>
        <p:nvSpPr>
          <p:cNvPr id="5" name="Shape 3"/>
          <p:cNvSpPr/>
          <p:nvPr/>
        </p:nvSpPr>
        <p:spPr>
          <a:xfrm>
            <a:off x="812800" y="2360811"/>
            <a:ext cx="3318917" cy="0"/>
          </a:xfrm>
          <a:prstGeom prst="line">
            <a:avLst/>
          </a:prstGeom>
          <a:noFill/>
          <a:ln w="38100">
            <a:solidFill>
              <a:srgbClr val="2B7A93"/>
            </a:solidFill>
            <a:prstDash val="solid"/>
          </a:ln>
        </p:spPr>
      </p:sp>
      <p:sp>
        <p:nvSpPr>
          <p:cNvPr id="6" name="Text 4"/>
          <p:cNvSpPr/>
          <p:nvPr/>
        </p:nvSpPr>
        <p:spPr>
          <a:xfrm>
            <a:off x="1066800" y="2633861"/>
            <a:ext cx="2895244"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02E"/>
                </a:solidFill>
                <a:latin typeface="Arial" pitchFamily="34" charset="0"/>
                <a:ea typeface="Arial" pitchFamily="34" charset="-122"/>
                <a:cs typeface="Arial" pitchFamily="34" charset="-120"/>
              </a:rPr>
              <a:t>The system</a:t>
            </a:r>
            <a:endParaRPr lang="en-US" sz="1800" dirty="0"/>
          </a:p>
        </p:txBody>
      </p:sp>
      <p:sp>
        <p:nvSpPr>
          <p:cNvPr id="7" name="Text 5"/>
          <p:cNvSpPr/>
          <p:nvPr/>
        </p:nvSpPr>
        <p:spPr>
          <a:xfrm>
            <a:off x="1066800" y="2908151"/>
            <a:ext cx="2895244" cy="16256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4756"/>
                </a:solidFill>
                <a:latin typeface="Arial" pitchFamily="34" charset="0"/>
                <a:ea typeface="Arial" pitchFamily="34" charset="-122"/>
                <a:cs typeface="Arial" pitchFamily="34" charset="-120"/>
              </a:rPr>
              <a:t>ROVA is the Group-owned realtime outgoing payment fraud detection system. Each scenario scores independently and the total score drives a HOLD or STOP response.</a:t>
            </a:r>
            <a:endParaRPr lang="en-US" sz="1500" dirty="0"/>
          </a:p>
        </p:txBody>
      </p:sp>
      <p:sp>
        <p:nvSpPr>
          <p:cNvPr id="8" name="Shape 6"/>
          <p:cNvSpPr/>
          <p:nvPr/>
        </p:nvSpPr>
        <p:spPr>
          <a:xfrm>
            <a:off x="4436517" y="2341761"/>
            <a:ext cx="3318966" cy="3805039"/>
          </a:xfrm>
          <a:prstGeom prst="rect">
            <a:avLst/>
          </a:prstGeom>
          <a:solidFill>
            <a:srgbClr val="FFFFFF"/>
          </a:solidFill>
          <a:ln/>
        </p:spPr>
      </p:sp>
      <p:sp>
        <p:nvSpPr>
          <p:cNvPr id="9" name="Shape 7"/>
          <p:cNvSpPr/>
          <p:nvPr/>
        </p:nvSpPr>
        <p:spPr>
          <a:xfrm>
            <a:off x="4436517" y="2360811"/>
            <a:ext cx="3318966" cy="0"/>
          </a:xfrm>
          <a:prstGeom prst="line">
            <a:avLst/>
          </a:prstGeom>
          <a:noFill/>
          <a:ln w="38100">
            <a:solidFill>
              <a:srgbClr val="2B7A93"/>
            </a:solidFill>
            <a:prstDash val="solid"/>
          </a:ln>
        </p:spPr>
      </p:sp>
      <p:sp>
        <p:nvSpPr>
          <p:cNvPr id="10" name="Text 8"/>
          <p:cNvSpPr/>
          <p:nvPr/>
        </p:nvSpPr>
        <p:spPr>
          <a:xfrm>
            <a:off x="4690517" y="2633861"/>
            <a:ext cx="2895295"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02E"/>
                </a:solidFill>
                <a:latin typeface="Arial" pitchFamily="34" charset="0"/>
                <a:ea typeface="Arial" pitchFamily="34" charset="-122"/>
                <a:cs typeface="Arial" pitchFamily="34" charset="-120"/>
              </a:rPr>
              <a:t>The monitoring</a:t>
            </a:r>
            <a:endParaRPr lang="en-US" sz="1800" dirty="0"/>
          </a:p>
        </p:txBody>
      </p:sp>
      <p:sp>
        <p:nvSpPr>
          <p:cNvPr id="11" name="Text 9"/>
          <p:cNvSpPr/>
          <p:nvPr/>
        </p:nvSpPr>
        <p:spPr>
          <a:xfrm>
            <a:off x="4690517" y="2908151"/>
            <a:ext cx="2895295" cy="16256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4756"/>
                </a:solidFill>
                <a:latin typeface="Arial" pitchFamily="34" charset="0"/>
                <a:ea typeface="Arial" pitchFamily="34" charset="-122"/>
                <a:cs typeface="Arial" pitchFamily="34" charset="-120"/>
              </a:rPr>
              <a:t>A bi-weekly workbook reports true positives (TP) and false positives (FP) for every scenario active in the last 3 and 6 months. The Rule Pivot tab is the main view.</a:t>
            </a:r>
            <a:endParaRPr lang="en-US" sz="1500" dirty="0"/>
          </a:p>
        </p:txBody>
      </p:sp>
      <p:sp>
        <p:nvSpPr>
          <p:cNvPr id="12" name="Shape 10"/>
          <p:cNvSpPr/>
          <p:nvPr/>
        </p:nvSpPr>
        <p:spPr>
          <a:xfrm>
            <a:off x="8060283" y="2341761"/>
            <a:ext cx="3318917" cy="3805039"/>
          </a:xfrm>
          <a:prstGeom prst="rect">
            <a:avLst/>
          </a:prstGeom>
          <a:solidFill>
            <a:srgbClr val="FFFFFF"/>
          </a:solidFill>
          <a:ln/>
        </p:spPr>
      </p:sp>
      <p:sp>
        <p:nvSpPr>
          <p:cNvPr id="13" name="Shape 11"/>
          <p:cNvSpPr/>
          <p:nvPr/>
        </p:nvSpPr>
        <p:spPr>
          <a:xfrm>
            <a:off x="8060283" y="2360811"/>
            <a:ext cx="3318917" cy="0"/>
          </a:xfrm>
          <a:prstGeom prst="line">
            <a:avLst/>
          </a:prstGeom>
          <a:noFill/>
          <a:ln w="38100">
            <a:solidFill>
              <a:srgbClr val="2B7A93"/>
            </a:solidFill>
            <a:prstDash val="solid"/>
          </a:ln>
        </p:spPr>
      </p:sp>
      <p:sp>
        <p:nvSpPr>
          <p:cNvPr id="14" name="Text 12"/>
          <p:cNvSpPr/>
          <p:nvPr/>
        </p:nvSpPr>
        <p:spPr>
          <a:xfrm>
            <a:off x="8314283" y="2633861"/>
            <a:ext cx="2895244"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02E"/>
                </a:solidFill>
                <a:latin typeface="Arial" pitchFamily="34" charset="0"/>
                <a:ea typeface="Arial" pitchFamily="34" charset="-122"/>
                <a:cs typeface="Arial" pitchFamily="34" charset="-120"/>
              </a:rPr>
              <a:t>Our question</a:t>
            </a:r>
            <a:endParaRPr lang="en-US" sz="1800" dirty="0"/>
          </a:p>
        </p:txBody>
      </p:sp>
      <p:sp>
        <p:nvSpPr>
          <p:cNvPr id="15" name="Text 13"/>
          <p:cNvSpPr/>
          <p:nvPr/>
        </p:nvSpPr>
        <p:spPr>
          <a:xfrm>
            <a:off x="8314283" y="2908151"/>
            <a:ext cx="2895244" cy="13589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4756"/>
                </a:solidFill>
                <a:latin typeface="Arial" pitchFamily="34" charset="0"/>
                <a:ea typeface="Arial" pitchFamily="34" charset="-122"/>
                <a:cs typeface="Arial" pitchFamily="34" charset="-120"/>
              </a:rPr>
              <a:t>Do the metrics, colours and data behind the monitoring give enough evidence to support decisions on scenario performance and tuning?</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B7A93"/>
                </a:solidFill>
                <a:latin typeface="Arial" pitchFamily="34" charset="0"/>
                <a:ea typeface="Arial" pitchFamily="34" charset="-122"/>
                <a:cs typeface="Arial" pitchFamily="34" charset="-120"/>
              </a:rPr>
              <a:t>CONTEXT · CHANGE PROCESS</a:t>
            </a:r>
            <a:endParaRPr lang="en-US" sz="1200" dirty="0"/>
          </a:p>
        </p:txBody>
      </p:sp>
      <p:sp>
        <p:nvSpPr>
          <p:cNvPr id="3" name="Text 1"/>
          <p:cNvSpPr/>
          <p:nvPr>
            <p:ph type="title"/>
          </p:nvPr>
        </p:nvSpPr>
        <p:spPr>
          <a:xfrm>
            <a:off x="812800" y="924520"/>
            <a:ext cx="10883392" cy="1087041"/>
          </a:xfrm>
          <a:prstGeom prst="rect">
            <a:avLst/>
          </a:prstGeom>
          <a:noFill/>
          <a:ln/>
        </p:spPr>
        <p:txBody>
          <a:bodyPr wrap="square" lIns="0" tIns="0" rIns="0" bIns="0" rtlCol="0" anchor="t">
            <a:normAutofit/>
          </a:bodyPr>
          <a:lstStyle/>
          <a:p>
            <a:pPr algn="l" indent="0" marL="0">
              <a:lnSpc>
                <a:spcPts val="4180"/>
              </a:lnSpc>
              <a:buNone/>
            </a:pPr>
            <a:r>
              <a:rPr lang="en-US" sz="3800" b="0" i="0" dirty="0">
                <a:solidFill>
                  <a:srgbClr val="16202E"/>
                </a:solidFill>
                <a:latin typeface="Georgia" pitchFamily="18" charset="0"/>
                <a:ea typeface="Georgia" pitchFamily="18" charset="-122"/>
                <a:cs typeface="Georgia" pitchFamily="18" charset="-120"/>
              </a:rPr>
              <a:t>New scenarios go through 12 steps in three phases</a:t>
            </a:r>
            <a:endParaRPr lang="en-US" sz="3800" dirty="0"/>
          </a:p>
        </p:txBody>
      </p:sp>
      <p:sp>
        <p:nvSpPr>
          <p:cNvPr id="4" name="Shape 2"/>
          <p:cNvSpPr/>
          <p:nvPr/>
        </p:nvSpPr>
        <p:spPr>
          <a:xfrm>
            <a:off x="812800" y="2290961"/>
            <a:ext cx="4119017" cy="3017639"/>
          </a:xfrm>
          <a:prstGeom prst="rect">
            <a:avLst/>
          </a:prstGeom>
          <a:solidFill>
            <a:srgbClr val="E3F0F4"/>
          </a:solidFill>
          <a:ln/>
        </p:spPr>
      </p:sp>
      <p:sp>
        <p:nvSpPr>
          <p:cNvPr id="5" name="Text 3"/>
          <p:cNvSpPr/>
          <p:nvPr/>
        </p:nvSpPr>
        <p:spPr>
          <a:xfrm>
            <a:off x="1041400" y="2519561"/>
            <a:ext cx="3771671" cy="558800"/>
          </a:xfrm>
          <a:prstGeom prst="rect">
            <a:avLst/>
          </a:prstGeom>
          <a:noFill/>
          <a:ln/>
        </p:spPr>
        <p:txBody>
          <a:bodyPr wrap="square" lIns="0" tIns="0" rIns="0" bIns="0" rtlCol="0" anchor="t">
            <a:normAutofit/>
          </a:bodyPr>
          <a:lstStyle/>
          <a:p>
            <a:pPr algn="l" indent="0" marL="0">
              <a:lnSpc>
                <a:spcPts val="4200"/>
              </a:lnSpc>
              <a:buNone/>
            </a:pPr>
            <a:r>
              <a:rPr lang="en-US" sz="3000" dirty="0">
                <a:solidFill>
                  <a:srgbClr val="2B7A93"/>
                </a:solidFill>
                <a:latin typeface="Georgia" pitchFamily="18" charset="0"/>
                <a:ea typeface="Georgia" pitchFamily="18" charset="-122"/>
                <a:cs typeface="Georgia" pitchFamily="18" charset="-120"/>
              </a:rPr>
              <a:t>1–5</a:t>
            </a:r>
            <a:endParaRPr lang="en-US" sz="3000" dirty="0"/>
          </a:p>
        </p:txBody>
      </p:sp>
      <p:sp>
        <p:nvSpPr>
          <p:cNvPr id="6" name="Text 4"/>
          <p:cNvSpPr/>
          <p:nvPr/>
        </p:nvSpPr>
        <p:spPr>
          <a:xfrm>
            <a:off x="1041400" y="3052961"/>
            <a:ext cx="3771671"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02E"/>
                </a:solidFill>
                <a:latin typeface="Arial" pitchFamily="34" charset="0"/>
                <a:ea typeface="Arial" pitchFamily="34" charset="-122"/>
                <a:cs typeface="Arial" pitchFamily="34" charset="-120"/>
              </a:rPr>
              <a:t>Build and validate</a:t>
            </a:r>
            <a:endParaRPr lang="en-US" sz="1800" dirty="0"/>
          </a:p>
        </p:txBody>
      </p:sp>
      <p:sp>
        <p:nvSpPr>
          <p:cNvPr id="7" name="Text 5"/>
          <p:cNvSpPr/>
          <p:nvPr/>
        </p:nvSpPr>
        <p:spPr>
          <a:xfrm>
            <a:off x="1041400" y="3327251"/>
            <a:ext cx="3771671" cy="102096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756"/>
                </a:solidFill>
                <a:latin typeface="Arial" pitchFamily="34" charset="0"/>
                <a:ea typeface="Arial" pitchFamily="34" charset="-122"/>
                <a:cs typeface="Arial" pitchFamily="34" charset="-120"/>
              </a:rPr>
              <a:t>Identify the fraud, simulate against the current control set, review the key features, build a test scenario and re-simulate until the fraud is held or stopped.</a:t>
            </a:r>
            <a:endParaRPr lang="en-US" sz="1400" dirty="0"/>
          </a:p>
        </p:txBody>
      </p:sp>
      <p:sp>
        <p:nvSpPr>
          <p:cNvPr id="8" name="Shape 6"/>
          <p:cNvSpPr/>
          <p:nvPr/>
        </p:nvSpPr>
        <p:spPr>
          <a:xfrm>
            <a:off x="5135017" y="2290961"/>
            <a:ext cx="2654300" cy="3017639"/>
          </a:xfrm>
          <a:prstGeom prst="rect">
            <a:avLst/>
          </a:prstGeom>
          <a:solidFill>
            <a:srgbClr val="EFE9DC"/>
          </a:solidFill>
          <a:ln/>
        </p:spPr>
      </p:sp>
      <p:sp>
        <p:nvSpPr>
          <p:cNvPr id="9" name="Text 7"/>
          <p:cNvSpPr/>
          <p:nvPr/>
        </p:nvSpPr>
        <p:spPr>
          <a:xfrm>
            <a:off x="5363617" y="2519561"/>
            <a:ext cx="2263013" cy="558800"/>
          </a:xfrm>
          <a:prstGeom prst="rect">
            <a:avLst/>
          </a:prstGeom>
          <a:noFill/>
          <a:ln/>
        </p:spPr>
        <p:txBody>
          <a:bodyPr wrap="square" lIns="0" tIns="0" rIns="0" bIns="0" rtlCol="0" anchor="t">
            <a:normAutofit/>
          </a:bodyPr>
          <a:lstStyle/>
          <a:p>
            <a:pPr algn="l" indent="0" marL="0">
              <a:lnSpc>
                <a:spcPts val="4200"/>
              </a:lnSpc>
              <a:buNone/>
            </a:pPr>
            <a:r>
              <a:rPr lang="en-US" sz="3000" dirty="0">
                <a:solidFill>
                  <a:srgbClr val="8A6A2F"/>
                </a:solidFill>
                <a:latin typeface="Georgia" pitchFamily="18" charset="0"/>
                <a:ea typeface="Georgia" pitchFamily="18" charset="-122"/>
                <a:cs typeface="Georgia" pitchFamily="18" charset="-120"/>
              </a:rPr>
              <a:t>6–8</a:t>
            </a:r>
            <a:endParaRPr lang="en-US" sz="3000" dirty="0"/>
          </a:p>
        </p:txBody>
      </p:sp>
      <p:sp>
        <p:nvSpPr>
          <p:cNvPr id="10" name="Text 8"/>
          <p:cNvSpPr/>
          <p:nvPr/>
        </p:nvSpPr>
        <p:spPr>
          <a:xfrm>
            <a:off x="5363617" y="3052961"/>
            <a:ext cx="2263013"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02E"/>
                </a:solidFill>
                <a:latin typeface="Arial" pitchFamily="34" charset="0"/>
                <a:ea typeface="Arial" pitchFamily="34" charset="-122"/>
                <a:cs typeface="Arial" pitchFamily="34" charset="-120"/>
              </a:rPr>
              <a:t>Widen testing</a:t>
            </a:r>
            <a:endParaRPr lang="en-US" sz="1800" dirty="0"/>
          </a:p>
        </p:txBody>
      </p:sp>
      <p:sp>
        <p:nvSpPr>
          <p:cNvPr id="11" name="Text 9"/>
          <p:cNvSpPr/>
          <p:nvPr/>
        </p:nvSpPr>
        <p:spPr>
          <a:xfrm>
            <a:off x="5363617" y="3327251"/>
            <a:ext cx="2263013"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756"/>
                </a:solidFill>
                <a:latin typeface="Arial" pitchFamily="34" charset="0"/>
                <a:ea typeface="Arial" pitchFamily="34" charset="-122"/>
                <a:cs typeface="Arial" pitchFamily="34" charset="-120"/>
              </a:rPr>
              <a:t>Check for duplication, missed payments and the false positive rate impact.</a:t>
            </a:r>
            <a:endParaRPr lang="en-US" sz="1400" dirty="0"/>
          </a:p>
        </p:txBody>
      </p:sp>
      <p:sp>
        <p:nvSpPr>
          <p:cNvPr id="12" name="Shape 10"/>
          <p:cNvSpPr/>
          <p:nvPr/>
        </p:nvSpPr>
        <p:spPr>
          <a:xfrm>
            <a:off x="7992517" y="2290961"/>
            <a:ext cx="3386683" cy="3017639"/>
          </a:xfrm>
          <a:prstGeom prst="rect">
            <a:avLst/>
          </a:prstGeom>
          <a:solidFill>
            <a:srgbClr val="E8E6F1"/>
          </a:solidFill>
          <a:ln/>
        </p:spPr>
      </p:sp>
      <p:sp>
        <p:nvSpPr>
          <p:cNvPr id="13" name="Text 11"/>
          <p:cNvSpPr/>
          <p:nvPr/>
        </p:nvSpPr>
        <p:spPr>
          <a:xfrm>
            <a:off x="8221117" y="2519561"/>
            <a:ext cx="3017368" cy="558800"/>
          </a:xfrm>
          <a:prstGeom prst="rect">
            <a:avLst/>
          </a:prstGeom>
          <a:noFill/>
          <a:ln/>
        </p:spPr>
        <p:txBody>
          <a:bodyPr wrap="square" lIns="0" tIns="0" rIns="0" bIns="0" rtlCol="0" anchor="t">
            <a:normAutofit/>
          </a:bodyPr>
          <a:lstStyle/>
          <a:p>
            <a:pPr algn="l" indent="0" marL="0">
              <a:lnSpc>
                <a:spcPts val="4200"/>
              </a:lnSpc>
              <a:buNone/>
            </a:pPr>
            <a:r>
              <a:rPr lang="en-US" sz="3000" dirty="0">
                <a:solidFill>
                  <a:srgbClr val="4C4690"/>
                </a:solidFill>
                <a:latin typeface="Georgia" pitchFamily="18" charset="0"/>
                <a:ea typeface="Georgia" pitchFamily="18" charset="-122"/>
                <a:cs typeface="Georgia" pitchFamily="18" charset="-120"/>
              </a:rPr>
              <a:t>9–12</a:t>
            </a:r>
            <a:endParaRPr lang="en-US" sz="3000" dirty="0"/>
          </a:p>
        </p:txBody>
      </p:sp>
      <p:sp>
        <p:nvSpPr>
          <p:cNvPr id="14" name="Text 12"/>
          <p:cNvSpPr/>
          <p:nvPr/>
        </p:nvSpPr>
        <p:spPr>
          <a:xfrm>
            <a:off x="8221117" y="3052961"/>
            <a:ext cx="3017368"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02E"/>
                </a:solidFill>
                <a:latin typeface="Arial" pitchFamily="34" charset="0"/>
                <a:ea typeface="Arial" pitchFamily="34" charset="-122"/>
                <a:cs typeface="Arial" pitchFamily="34" charset="-120"/>
              </a:rPr>
              <a:t>Govern</a:t>
            </a:r>
            <a:endParaRPr lang="en-US" sz="1800" dirty="0"/>
          </a:p>
        </p:txBody>
      </p:sp>
      <p:sp>
        <p:nvSpPr>
          <p:cNvPr id="15" name="Text 13"/>
          <p:cNvSpPr/>
          <p:nvPr/>
        </p:nvSpPr>
        <p:spPr>
          <a:xfrm>
            <a:off x="8221117" y="3327251"/>
            <a:ext cx="3017368" cy="102096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756"/>
                </a:solidFill>
                <a:latin typeface="Arial" pitchFamily="34" charset="0"/>
                <a:ea typeface="Arial" pitchFamily="34" charset="-122"/>
                <a:cs typeface="Arial" pitchFamily="34" charset="-120"/>
              </a:rPr>
              <a:t>Evidence is reviewed by UKOX-D and UKOX-B, then dual-user sign-off. Alert-level reductions also need CFCPO/MLRO sign-off.</a:t>
            </a:r>
            <a:endParaRPr lang="en-US" sz="1400" dirty="0"/>
          </a:p>
        </p:txBody>
      </p:sp>
      <p:sp>
        <p:nvSpPr>
          <p:cNvPr id="16" name="Shape 14"/>
          <p:cNvSpPr/>
          <p:nvPr/>
        </p:nvSpPr>
        <p:spPr>
          <a:xfrm>
            <a:off x="831850" y="5613400"/>
            <a:ext cx="0" cy="533400"/>
          </a:xfrm>
          <a:prstGeom prst="line">
            <a:avLst/>
          </a:prstGeom>
          <a:noFill/>
          <a:ln w="38100">
            <a:solidFill>
              <a:srgbClr val="2B7A93"/>
            </a:solidFill>
            <a:prstDash val="solid"/>
          </a:ln>
        </p:spPr>
      </p:sp>
      <p:sp>
        <p:nvSpPr>
          <p:cNvPr id="17" name="Text 15"/>
          <p:cNvSpPr/>
          <p:nvPr/>
        </p:nvSpPr>
        <p:spPr>
          <a:xfrm>
            <a:off x="1028700" y="5613400"/>
            <a:ext cx="10661015"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6202E"/>
                </a:solidFill>
                <a:latin typeface="Arial" pitchFamily="34" charset="0"/>
                <a:ea typeface="Arial" pitchFamily="34" charset="-122"/>
                <a:cs typeface="Arial" pitchFamily="34" charset="-120"/>
              </a:rPr>
              <a:t>The change process tests a scenario before it goes live. The bi-weekly monitoring is what tells us whether it keeps working afterwards.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B7A93"/>
                </a:solidFill>
                <a:latin typeface="Arial" pitchFamily="34" charset="0"/>
                <a:ea typeface="Arial" pitchFamily="34" charset="-122"/>
                <a:cs typeface="Arial" pitchFamily="34" charset="-120"/>
              </a:rPr>
              <a:t>CURRENT MONITORING</a:t>
            </a:r>
            <a:endParaRPr lang="en-US" sz="1200" dirty="0"/>
          </a:p>
        </p:txBody>
      </p:sp>
      <p:sp>
        <p:nvSpPr>
          <p:cNvPr id="3" name="Text 1"/>
          <p:cNvSpPr/>
          <p:nvPr>
            <p:ph type="title"/>
          </p:nvPr>
        </p:nvSpPr>
        <p:spPr>
          <a:xfrm>
            <a:off x="812800" y="924520"/>
            <a:ext cx="10883392" cy="556220"/>
          </a:xfrm>
          <a:prstGeom prst="rect">
            <a:avLst/>
          </a:prstGeom>
          <a:noFill/>
          <a:ln/>
        </p:spPr>
        <p:txBody>
          <a:bodyPr wrap="square" lIns="0" tIns="0" rIns="0" bIns="0" rtlCol="0" anchor="t">
            <a:normAutofit/>
          </a:bodyPr>
          <a:lstStyle/>
          <a:p>
            <a:pPr algn="l" indent="0" marL="0">
              <a:lnSpc>
                <a:spcPts val="4180"/>
              </a:lnSpc>
              <a:buNone/>
            </a:pPr>
            <a:r>
              <a:rPr lang="en-US" sz="3800" b="0" i="0" dirty="0">
                <a:solidFill>
                  <a:srgbClr val="16202E"/>
                </a:solidFill>
                <a:latin typeface="Georgia" pitchFamily="18" charset="0"/>
                <a:ea typeface="Georgia" pitchFamily="18" charset="-122"/>
                <a:cs typeface="Georgia" pitchFamily="18" charset="-120"/>
              </a:rPr>
              <a:t>What the bi-weekly monitoring does today</a:t>
            </a:r>
            <a:endParaRPr lang="en-US" sz="3800" dirty="0"/>
          </a:p>
        </p:txBody>
      </p:sp>
      <p:sp>
        <p:nvSpPr>
          <p:cNvPr id="4" name="Text 2"/>
          <p:cNvSpPr/>
          <p:nvPr/>
        </p:nvSpPr>
        <p:spPr>
          <a:xfrm>
            <a:off x="812800" y="1760141"/>
            <a:ext cx="406400" cy="109220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2B7A93"/>
                </a:solidFill>
                <a:latin typeface="Georgia" pitchFamily="18" charset="0"/>
                <a:ea typeface="Georgia" pitchFamily="18" charset="-122"/>
                <a:cs typeface="Georgia" pitchFamily="18" charset="-120"/>
              </a:rPr>
              <a:t>1</a:t>
            </a:r>
            <a:endParaRPr lang="en-US" sz="2200" dirty="0"/>
          </a:p>
        </p:txBody>
      </p:sp>
      <p:sp>
        <p:nvSpPr>
          <p:cNvPr id="5" name="Text 3"/>
          <p:cNvSpPr/>
          <p:nvPr/>
        </p:nvSpPr>
        <p:spPr>
          <a:xfrm>
            <a:off x="1320800" y="1760141"/>
            <a:ext cx="4421378" cy="10922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6202E"/>
                </a:solidFill>
                <a:latin typeface="Arial" pitchFamily="34" charset="0"/>
                <a:ea typeface="Arial" pitchFamily="34" charset="-122"/>
                <a:cs typeface="Arial" pitchFamily="34" charset="-120"/>
              </a:rPr>
              <a:t>Pull the data.</a:t>
            </a:r>
            <a:r>
              <a:rPr lang="en-US" sz="1500" dirty="0">
                <a:solidFill>
                  <a:srgbClr val="16202E"/>
                </a:solidFill>
                <a:latin typeface="Arial" pitchFamily="34" charset="0"/>
                <a:ea typeface="Arial" pitchFamily="34" charset="-122"/>
                <a:cs typeface="Arial" pitchFamily="34" charset="-120"/>
              </a:rPr>
              <a:t> A SQL extract takes hits with a case status in the last 3 months and joins them to transaction data. The workbook holds 6-month and 3-month views.</a:t>
            </a:r>
            <a:endParaRPr lang="en-US" sz="1500" dirty="0"/>
          </a:p>
        </p:txBody>
      </p:sp>
      <p:sp>
        <p:nvSpPr>
          <p:cNvPr id="6" name="Text 4"/>
          <p:cNvSpPr/>
          <p:nvPr/>
        </p:nvSpPr>
        <p:spPr>
          <a:xfrm>
            <a:off x="812800" y="3004741"/>
            <a:ext cx="406400" cy="82550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2B7A93"/>
                </a:solidFill>
                <a:latin typeface="Georgia" pitchFamily="18" charset="0"/>
                <a:ea typeface="Georgia" pitchFamily="18" charset="-122"/>
                <a:cs typeface="Georgia" pitchFamily="18" charset="-120"/>
              </a:rPr>
              <a:t>2</a:t>
            </a:r>
            <a:endParaRPr lang="en-US" sz="2200" dirty="0"/>
          </a:p>
        </p:txBody>
      </p:sp>
      <p:sp>
        <p:nvSpPr>
          <p:cNvPr id="7" name="Text 5"/>
          <p:cNvSpPr/>
          <p:nvPr/>
        </p:nvSpPr>
        <p:spPr>
          <a:xfrm>
            <a:off x="1320800" y="3004741"/>
            <a:ext cx="4421378" cy="8255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6202E"/>
                </a:solidFill>
                <a:latin typeface="Arial" pitchFamily="34" charset="0"/>
                <a:ea typeface="Arial" pitchFamily="34" charset="-122"/>
                <a:cs typeface="Arial" pitchFamily="34" charset="-120"/>
              </a:rPr>
              <a:t>Count alerts.</a:t>
            </a:r>
            <a:r>
              <a:rPr lang="en-US" sz="1500" dirty="0">
                <a:solidFill>
                  <a:srgbClr val="16202E"/>
                </a:solidFill>
                <a:latin typeface="Arial" pitchFamily="34" charset="0"/>
                <a:ea typeface="Arial" pitchFamily="34" charset="-122"/>
                <a:cs typeface="Arial" pitchFamily="34" charset="-120"/>
              </a:rPr>
              <a:t> For each scenario, month and hit type (HOLD or STOP), the volume is the number of alerts, split into TP and FP.</a:t>
            </a:r>
            <a:endParaRPr lang="en-US" sz="1500" dirty="0"/>
          </a:p>
        </p:txBody>
      </p:sp>
      <p:sp>
        <p:nvSpPr>
          <p:cNvPr id="8" name="Text 6"/>
          <p:cNvSpPr/>
          <p:nvPr/>
        </p:nvSpPr>
        <p:spPr>
          <a:xfrm>
            <a:off x="812800" y="3982641"/>
            <a:ext cx="406400" cy="82550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2B7A93"/>
                </a:solidFill>
                <a:latin typeface="Georgia" pitchFamily="18" charset="0"/>
                <a:ea typeface="Georgia" pitchFamily="18" charset="-122"/>
                <a:cs typeface="Georgia" pitchFamily="18" charset="-120"/>
              </a:rPr>
              <a:t>3</a:t>
            </a:r>
            <a:endParaRPr lang="en-US" sz="2200" dirty="0"/>
          </a:p>
        </p:txBody>
      </p:sp>
      <p:sp>
        <p:nvSpPr>
          <p:cNvPr id="9" name="Text 7"/>
          <p:cNvSpPr/>
          <p:nvPr/>
        </p:nvSpPr>
        <p:spPr>
          <a:xfrm>
            <a:off x="1320800" y="3982641"/>
            <a:ext cx="4421378" cy="8255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6202E"/>
                </a:solidFill>
                <a:latin typeface="Arial" pitchFamily="34" charset="0"/>
                <a:ea typeface="Arial" pitchFamily="34" charset="-122"/>
                <a:cs typeface="Arial" pitchFamily="34" charset="-120"/>
              </a:rPr>
              <a:t>Report on the Rule Pivot.</a:t>
            </a:r>
            <a:r>
              <a:rPr lang="en-US" sz="1500" dirty="0">
                <a:solidFill>
                  <a:srgbClr val="16202E"/>
                </a:solidFill>
                <a:latin typeface="Arial" pitchFamily="34" charset="0"/>
                <a:ea typeface="Arial" pitchFamily="34" charset="-122"/>
                <a:cs typeface="Arial" pitchFamily="34" charset="-120"/>
              </a:rPr>
              <a:t> The main tab shows an FP ratio per scenario and month, with a colour on each cell.</a:t>
            </a:r>
            <a:endParaRPr lang="en-US" sz="1500" dirty="0"/>
          </a:p>
        </p:txBody>
      </p:sp>
      <p:sp>
        <p:nvSpPr>
          <p:cNvPr id="10" name="Shape 8"/>
          <p:cNvSpPr/>
          <p:nvPr/>
        </p:nvSpPr>
        <p:spPr>
          <a:xfrm>
            <a:off x="6019800" y="1760141"/>
            <a:ext cx="5359400" cy="4386659"/>
          </a:xfrm>
          <a:prstGeom prst="rect">
            <a:avLst/>
          </a:prstGeom>
          <a:solidFill>
            <a:srgbClr val="FFFFFF"/>
          </a:solidFill>
          <a:ln/>
        </p:spPr>
      </p:sp>
      <p:sp>
        <p:nvSpPr>
          <p:cNvPr id="11" name="Shape 9"/>
          <p:cNvSpPr/>
          <p:nvPr/>
        </p:nvSpPr>
        <p:spPr>
          <a:xfrm>
            <a:off x="6019800" y="1779191"/>
            <a:ext cx="5359400" cy="0"/>
          </a:xfrm>
          <a:prstGeom prst="line">
            <a:avLst/>
          </a:prstGeom>
          <a:noFill/>
          <a:ln w="38100">
            <a:solidFill>
              <a:srgbClr val="B5542F"/>
            </a:solidFill>
            <a:prstDash val="solid"/>
          </a:ln>
        </p:spPr>
      </p:sp>
      <p:sp>
        <p:nvSpPr>
          <p:cNvPr id="12" name="Text 10"/>
          <p:cNvSpPr/>
          <p:nvPr/>
        </p:nvSpPr>
        <p:spPr>
          <a:xfrm>
            <a:off x="6299200" y="2077641"/>
            <a:ext cx="4944618"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02E"/>
                </a:solidFill>
                <a:latin typeface="Arial" pitchFamily="34" charset="0"/>
                <a:ea typeface="Arial" pitchFamily="34" charset="-122"/>
                <a:cs typeface="Arial" pitchFamily="34" charset="-120"/>
              </a:rPr>
              <a:t>What is not defined</a:t>
            </a:r>
            <a:endParaRPr lang="en-US" sz="1800" dirty="0"/>
          </a:p>
        </p:txBody>
      </p:sp>
      <p:sp>
        <p:nvSpPr>
          <p:cNvPr id="13" name="Text 11"/>
          <p:cNvSpPr/>
          <p:nvPr/>
        </p:nvSpPr>
        <p:spPr>
          <a:xfrm>
            <a:off x="6299200" y="2504331"/>
            <a:ext cx="4944618"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4756"/>
                </a:solidFill>
                <a:latin typeface="Arial" pitchFamily="34" charset="0"/>
                <a:ea typeface="Arial" pitchFamily="34" charset="-122"/>
                <a:cs typeface="Arial" pitchFamily="34" charset="-120"/>
              </a:rPr>
              <a:t>There are no documented thresholds. The colours come from expert judgement.</a:t>
            </a:r>
            <a:endParaRPr lang="en-US" sz="1500" dirty="0"/>
          </a:p>
        </p:txBody>
      </p:sp>
      <p:sp>
        <p:nvSpPr>
          <p:cNvPr id="14" name="Text 12"/>
          <p:cNvSpPr/>
          <p:nvPr/>
        </p:nvSpPr>
        <p:spPr>
          <a:xfrm>
            <a:off x="6299200" y="3190131"/>
            <a:ext cx="4944618"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4756"/>
                </a:solidFill>
                <a:latin typeface="Arial" pitchFamily="34" charset="0"/>
                <a:ea typeface="Arial" pitchFamily="34" charset="-122"/>
                <a:cs typeface="Arial" pitchFamily="34" charset="-120"/>
              </a:rPr>
              <a:t>There is no stated action when a scenario turns red or amber, and no uncertainty shown on the ratios.</a:t>
            </a:r>
            <a:endParaRPr lang="en-US" sz="1500" dirty="0"/>
          </a:p>
        </p:txBody>
      </p:sp>
      <p:sp>
        <p:nvSpPr>
          <p:cNvPr id="15" name="Text 13"/>
          <p:cNvSpPr/>
          <p:nvPr/>
        </p:nvSpPr>
        <p:spPr>
          <a:xfrm>
            <a:off x="6299200" y="3875931"/>
            <a:ext cx="4944618"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4756"/>
                </a:solidFill>
                <a:latin typeface="Arial" pitchFamily="34" charset="0"/>
                <a:ea typeface="Arial" pitchFamily="34" charset="-122"/>
                <a:cs typeface="Arial" pitchFamily="34" charset="-120"/>
              </a:rPr>
              <a:t>FP ratio = FP / (FP + TP), so it is the complement of precision.</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B7A93"/>
                </a:solidFill>
                <a:latin typeface="Arial" pitchFamily="34" charset="0"/>
                <a:ea typeface="Arial" pitchFamily="34" charset="-122"/>
                <a:cs typeface="Arial" pitchFamily="34" charset="-120"/>
              </a:rPr>
              <a:t>CURRENT MONITORING · DASHBOARD</a:t>
            </a:r>
            <a:endParaRPr lang="en-US" sz="1200" dirty="0"/>
          </a:p>
        </p:txBody>
      </p:sp>
      <p:sp>
        <p:nvSpPr>
          <p:cNvPr id="3" name="Text 1"/>
          <p:cNvSpPr/>
          <p:nvPr>
            <p:ph type="title"/>
          </p:nvPr>
        </p:nvSpPr>
        <p:spPr>
          <a:xfrm>
            <a:off x="812800" y="924520"/>
            <a:ext cx="10883392" cy="1087041"/>
          </a:xfrm>
          <a:prstGeom prst="rect">
            <a:avLst/>
          </a:prstGeom>
          <a:noFill/>
          <a:ln/>
        </p:spPr>
        <p:txBody>
          <a:bodyPr wrap="square" lIns="0" tIns="0" rIns="0" bIns="0" rtlCol="0" anchor="t">
            <a:normAutofit/>
          </a:bodyPr>
          <a:lstStyle/>
          <a:p>
            <a:pPr algn="l" indent="0" marL="0">
              <a:lnSpc>
                <a:spcPts val="4180"/>
              </a:lnSpc>
              <a:buNone/>
            </a:pPr>
            <a:r>
              <a:rPr lang="en-US" sz="3800" b="0" i="0" dirty="0">
                <a:solidFill>
                  <a:srgbClr val="16202E"/>
                </a:solidFill>
                <a:latin typeface="Georgia" pitchFamily="18" charset="0"/>
                <a:ea typeface="Georgia" pitchFamily="18" charset="-122"/>
                <a:cs typeface="Georgia" pitchFamily="18" charset="-120"/>
              </a:rPr>
              <a:t>The colours appear to follow an FP ratio band, but the bands are not written down</a:t>
            </a:r>
            <a:endParaRPr lang="en-US" sz="3800" dirty="0"/>
          </a:p>
        </p:txBody>
      </p:sp>
      <p:sp>
        <p:nvSpPr>
          <p:cNvPr id="4" name="Shape 2"/>
          <p:cNvSpPr/>
          <p:nvPr/>
        </p:nvSpPr>
        <p:spPr>
          <a:xfrm>
            <a:off x="812800" y="2290961"/>
            <a:ext cx="4851400" cy="711200"/>
          </a:xfrm>
          <a:prstGeom prst="rect">
            <a:avLst/>
          </a:prstGeom>
          <a:solidFill>
            <a:srgbClr val="FFFFFF"/>
          </a:solidFill>
          <a:ln/>
        </p:spPr>
      </p:sp>
      <p:sp>
        <p:nvSpPr>
          <p:cNvPr id="5" name="Shape 3"/>
          <p:cNvSpPr/>
          <p:nvPr/>
        </p:nvSpPr>
        <p:spPr>
          <a:xfrm>
            <a:off x="1041400" y="2468761"/>
            <a:ext cx="355600" cy="355600"/>
          </a:xfrm>
          <a:prstGeom prst="rect">
            <a:avLst/>
          </a:prstGeom>
          <a:solidFill>
            <a:srgbClr val="2E8B57"/>
          </a:solidFill>
          <a:ln/>
        </p:spPr>
      </p:sp>
      <p:sp>
        <p:nvSpPr>
          <p:cNvPr id="6" name="Text 4"/>
          <p:cNvSpPr/>
          <p:nvPr/>
        </p:nvSpPr>
        <p:spPr>
          <a:xfrm>
            <a:off x="1574800" y="2504331"/>
            <a:ext cx="3709273"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6202E"/>
                </a:solidFill>
                <a:latin typeface="Arial" pitchFamily="34" charset="0"/>
                <a:ea typeface="Arial" pitchFamily="34" charset="-122"/>
                <a:cs typeface="Arial" pitchFamily="34" charset="-120"/>
              </a:rPr>
              <a:t>Green</a:t>
            </a:r>
            <a:r>
              <a:rPr lang="en-US" sz="1600" dirty="0">
                <a:solidFill>
                  <a:srgbClr val="16202E"/>
                </a:solidFill>
                <a:latin typeface="Arial" pitchFamily="34" charset="0"/>
                <a:ea typeface="Arial" pitchFamily="34" charset="-122"/>
                <a:cs typeface="Arial" pitchFamily="34" charset="-120"/>
              </a:rPr>
              <a:t> · FP ratio below about 93%</a:t>
            </a:r>
            <a:endParaRPr lang="en-US" sz="1600" dirty="0"/>
          </a:p>
        </p:txBody>
      </p:sp>
      <p:sp>
        <p:nvSpPr>
          <p:cNvPr id="7" name="Shape 5"/>
          <p:cNvSpPr/>
          <p:nvPr/>
        </p:nvSpPr>
        <p:spPr>
          <a:xfrm>
            <a:off x="812800" y="3129161"/>
            <a:ext cx="4851400" cy="711200"/>
          </a:xfrm>
          <a:prstGeom prst="rect">
            <a:avLst/>
          </a:prstGeom>
          <a:solidFill>
            <a:srgbClr val="FFFFFF"/>
          </a:solidFill>
          <a:ln/>
        </p:spPr>
      </p:sp>
      <p:sp>
        <p:nvSpPr>
          <p:cNvPr id="8" name="Shape 6"/>
          <p:cNvSpPr/>
          <p:nvPr/>
        </p:nvSpPr>
        <p:spPr>
          <a:xfrm>
            <a:off x="1041400" y="3306961"/>
            <a:ext cx="355600" cy="355600"/>
          </a:xfrm>
          <a:prstGeom prst="rect">
            <a:avLst/>
          </a:prstGeom>
          <a:solidFill>
            <a:srgbClr val="E0A526"/>
          </a:solidFill>
          <a:ln/>
        </p:spPr>
      </p:sp>
      <p:sp>
        <p:nvSpPr>
          <p:cNvPr id="9" name="Text 7"/>
          <p:cNvSpPr/>
          <p:nvPr/>
        </p:nvSpPr>
        <p:spPr>
          <a:xfrm>
            <a:off x="1574800" y="3342531"/>
            <a:ext cx="298192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6202E"/>
                </a:solidFill>
                <a:latin typeface="Arial" pitchFamily="34" charset="0"/>
                <a:ea typeface="Arial" pitchFamily="34" charset="-122"/>
                <a:cs typeface="Arial" pitchFamily="34" charset="-120"/>
              </a:rPr>
              <a:t>Amber</a:t>
            </a:r>
            <a:r>
              <a:rPr lang="en-US" sz="1600" dirty="0">
                <a:solidFill>
                  <a:srgbClr val="16202E"/>
                </a:solidFill>
                <a:latin typeface="Arial" pitchFamily="34" charset="0"/>
                <a:ea typeface="Arial" pitchFamily="34" charset="-122"/>
                <a:cs typeface="Arial" pitchFamily="34" charset="-120"/>
              </a:rPr>
              <a:t> · about 93% to 99%</a:t>
            </a:r>
            <a:endParaRPr lang="en-US" sz="1600" dirty="0"/>
          </a:p>
        </p:txBody>
      </p:sp>
      <p:sp>
        <p:nvSpPr>
          <p:cNvPr id="10" name="Shape 8"/>
          <p:cNvSpPr/>
          <p:nvPr/>
        </p:nvSpPr>
        <p:spPr>
          <a:xfrm>
            <a:off x="812800" y="3967361"/>
            <a:ext cx="4851400" cy="711200"/>
          </a:xfrm>
          <a:prstGeom prst="rect">
            <a:avLst/>
          </a:prstGeom>
          <a:solidFill>
            <a:srgbClr val="FFFFFF"/>
          </a:solidFill>
          <a:ln/>
        </p:spPr>
      </p:sp>
      <p:sp>
        <p:nvSpPr>
          <p:cNvPr id="11" name="Shape 9"/>
          <p:cNvSpPr/>
          <p:nvPr/>
        </p:nvSpPr>
        <p:spPr>
          <a:xfrm>
            <a:off x="1041400" y="4145161"/>
            <a:ext cx="355600" cy="355600"/>
          </a:xfrm>
          <a:prstGeom prst="rect">
            <a:avLst/>
          </a:prstGeom>
          <a:solidFill>
            <a:srgbClr val="C0392B"/>
          </a:solidFill>
          <a:ln/>
        </p:spPr>
      </p:sp>
      <p:sp>
        <p:nvSpPr>
          <p:cNvPr id="12" name="Text 10"/>
          <p:cNvSpPr/>
          <p:nvPr/>
        </p:nvSpPr>
        <p:spPr>
          <a:xfrm>
            <a:off x="1574800" y="4180731"/>
            <a:ext cx="1978938"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6202E"/>
                </a:solidFill>
                <a:latin typeface="Arial" pitchFamily="34" charset="0"/>
                <a:ea typeface="Arial" pitchFamily="34" charset="-122"/>
                <a:cs typeface="Arial" pitchFamily="34" charset="-120"/>
              </a:rPr>
              <a:t>Red</a:t>
            </a:r>
            <a:r>
              <a:rPr lang="en-US" sz="1600" dirty="0">
                <a:solidFill>
                  <a:srgbClr val="16202E"/>
                </a:solidFill>
                <a:latin typeface="Arial" pitchFamily="34" charset="0"/>
                <a:ea typeface="Arial" pitchFamily="34" charset="-122"/>
                <a:cs typeface="Arial" pitchFamily="34" charset="-120"/>
              </a:rPr>
              <a:t> · about 100%</a:t>
            </a:r>
            <a:endParaRPr lang="en-US" sz="1600" dirty="0"/>
          </a:p>
        </p:txBody>
      </p:sp>
      <p:sp>
        <p:nvSpPr>
          <p:cNvPr id="13" name="Text 11"/>
          <p:cNvSpPr/>
          <p:nvPr/>
        </p:nvSpPr>
        <p:spPr>
          <a:xfrm>
            <a:off x="812800" y="4805561"/>
            <a:ext cx="499694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675"/>
                </a:solidFill>
                <a:latin typeface="Arial" pitchFamily="34" charset="0"/>
                <a:ea typeface="Arial" pitchFamily="34" charset="-122"/>
                <a:cs typeface="Arial" pitchFamily="34" charset="-120"/>
              </a:rPr>
              <a:t>Cut-offs are our reading of the dashboard screenshot. Owners to confirm.</a:t>
            </a:r>
            <a:endParaRPr lang="en-US" sz="1200" dirty="0"/>
          </a:p>
        </p:txBody>
      </p:sp>
      <p:sp>
        <p:nvSpPr>
          <p:cNvPr id="14" name="Shape 12"/>
          <p:cNvSpPr/>
          <p:nvPr/>
        </p:nvSpPr>
        <p:spPr>
          <a:xfrm>
            <a:off x="5969000" y="2290961"/>
            <a:ext cx="5410200" cy="3855839"/>
          </a:xfrm>
          <a:prstGeom prst="rect">
            <a:avLst/>
          </a:prstGeom>
          <a:solidFill>
            <a:srgbClr val="FFFFFF"/>
          </a:solidFill>
          <a:ln/>
        </p:spPr>
      </p:sp>
      <p:sp>
        <p:nvSpPr>
          <p:cNvPr id="15" name="Text 13"/>
          <p:cNvSpPr/>
          <p:nvPr/>
        </p:nvSpPr>
        <p:spPr>
          <a:xfrm>
            <a:off x="6248400" y="2570361"/>
            <a:ext cx="4996942"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02E"/>
                </a:solidFill>
                <a:latin typeface="Arial" pitchFamily="34" charset="0"/>
                <a:ea typeface="Arial" pitchFamily="34" charset="-122"/>
                <a:cs typeface="Arial" pitchFamily="34" charset="-120"/>
              </a:rPr>
              <a:t>What this means in practice</a:t>
            </a:r>
            <a:endParaRPr lang="en-US" sz="1800" dirty="0"/>
          </a:p>
        </p:txBody>
      </p:sp>
      <p:sp>
        <p:nvSpPr>
          <p:cNvPr id="16" name="Text 14"/>
          <p:cNvSpPr/>
          <p:nvPr/>
        </p:nvSpPr>
        <p:spPr>
          <a:xfrm>
            <a:off x="6248400" y="2997051"/>
            <a:ext cx="499694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4756"/>
                </a:solidFill>
                <a:latin typeface="Arial" pitchFamily="34" charset="0"/>
                <a:ea typeface="Arial" pitchFamily="34" charset="-122"/>
                <a:cs typeface="Arial" pitchFamily="34" charset="-120"/>
              </a:rPr>
              <a:t>Nearly all scenarios have a high FP ratio, so the colours separate very high from extremely high.</a:t>
            </a:r>
            <a:endParaRPr lang="en-US" sz="1500" dirty="0"/>
          </a:p>
        </p:txBody>
      </p:sp>
      <p:sp>
        <p:nvSpPr>
          <p:cNvPr id="17" name="Text 15"/>
          <p:cNvSpPr/>
          <p:nvPr/>
        </p:nvSpPr>
        <p:spPr>
          <a:xfrm>
            <a:off x="6248400" y="3682851"/>
            <a:ext cx="499694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4756"/>
                </a:solidFill>
                <a:latin typeface="Arial" pitchFamily="34" charset="0"/>
                <a:ea typeface="Arial" pitchFamily="34" charset="-122"/>
                <a:cs typeface="Arial" pitchFamily="34" charset="-120"/>
              </a:rPr>
              <a:t>A scenario with 3 alerts and 3 FPs is red, as is one with 3,000 alerts and 3,000 FPs. The colour says nothing about how much evidence sits behind it.</a:t>
            </a:r>
            <a:endParaRPr lang="en-US" sz="1500" dirty="0"/>
          </a:p>
        </p:txBody>
      </p:sp>
      <p:sp>
        <p:nvSpPr>
          <p:cNvPr id="18" name="Text 16"/>
          <p:cNvSpPr/>
          <p:nvPr/>
        </p:nvSpPr>
        <p:spPr>
          <a:xfrm>
            <a:off x="6248400" y="4635351"/>
            <a:ext cx="499694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4756"/>
                </a:solidFill>
                <a:latin typeface="Arial" pitchFamily="34" charset="0"/>
                <a:ea typeface="Arial" pitchFamily="34" charset="-122"/>
                <a:cs typeface="Arial" pitchFamily="34" charset="-120"/>
              </a:rPr>
              <a:t>The ratio is shown alone, without volume, TP count or interval.</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202E"/>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7FC1D6"/>
                </a:solidFill>
                <a:latin typeface="Arial" pitchFamily="34" charset="0"/>
                <a:ea typeface="Arial" pitchFamily="34" charset="-122"/>
                <a:cs typeface="Arial" pitchFamily="34" charset="-120"/>
              </a:rPr>
              <a:t>FINDINGS</a:t>
            </a:r>
            <a:endParaRPr lang="en-US" sz="1200" dirty="0"/>
          </a:p>
        </p:txBody>
      </p:sp>
      <p:sp>
        <p:nvSpPr>
          <p:cNvPr id="3" name="Text 1"/>
          <p:cNvSpPr/>
          <p:nvPr>
            <p:ph type="title"/>
          </p:nvPr>
        </p:nvSpPr>
        <p:spPr>
          <a:xfrm>
            <a:off x="812800" y="924520"/>
            <a:ext cx="10883392" cy="1087041"/>
          </a:xfrm>
          <a:prstGeom prst="rect">
            <a:avLst/>
          </a:prstGeom>
          <a:noFill/>
          <a:ln/>
        </p:spPr>
        <p:txBody>
          <a:bodyPr wrap="square" lIns="0" tIns="0" rIns="0" bIns="0" rtlCol="0" anchor="t">
            <a:normAutofit/>
          </a:bodyPr>
          <a:lstStyle/>
          <a:p>
            <a:pPr algn="l" indent="0" marL="0">
              <a:lnSpc>
                <a:spcPts val="4180"/>
              </a:lnSpc>
              <a:buNone/>
            </a:pPr>
            <a:r>
              <a:rPr lang="en-US" sz="3800" b="0" i="0" dirty="0">
                <a:solidFill>
                  <a:srgbClr val="F2F5F8"/>
                </a:solidFill>
                <a:latin typeface="Georgia" pitchFamily="18" charset="0"/>
                <a:ea typeface="Georgia" pitchFamily="18" charset="-122"/>
                <a:cs typeface="Georgia" pitchFamily="18" charset="-120"/>
              </a:rPr>
              <a:t>Four deficiencies limit what the monitoring can show</a:t>
            </a:r>
            <a:endParaRPr lang="en-US" sz="3800" dirty="0"/>
          </a:p>
        </p:txBody>
      </p:sp>
      <p:sp>
        <p:nvSpPr>
          <p:cNvPr id="4" name="Shape 2"/>
          <p:cNvSpPr/>
          <p:nvPr/>
        </p:nvSpPr>
        <p:spPr>
          <a:xfrm>
            <a:off x="812800" y="2290961"/>
            <a:ext cx="5181600" cy="1826320"/>
          </a:xfrm>
          <a:prstGeom prst="rect">
            <a:avLst/>
          </a:prstGeom>
          <a:solidFill>
            <a:srgbClr val="1F2D40"/>
          </a:solidFill>
          <a:ln/>
        </p:spPr>
      </p:sp>
      <p:sp>
        <p:nvSpPr>
          <p:cNvPr id="5" name="Shape 3"/>
          <p:cNvSpPr/>
          <p:nvPr/>
        </p:nvSpPr>
        <p:spPr>
          <a:xfrm>
            <a:off x="831850" y="2290961"/>
            <a:ext cx="0" cy="1826320"/>
          </a:xfrm>
          <a:prstGeom prst="line">
            <a:avLst/>
          </a:prstGeom>
          <a:noFill/>
          <a:ln w="38100">
            <a:solidFill>
              <a:srgbClr val="E0A526"/>
            </a:solidFill>
            <a:prstDash val="solid"/>
          </a:ln>
        </p:spPr>
      </p:sp>
      <p:sp>
        <p:nvSpPr>
          <p:cNvPr id="6" name="Text 4"/>
          <p:cNvSpPr/>
          <p:nvPr/>
        </p:nvSpPr>
        <p:spPr>
          <a:xfrm>
            <a:off x="1104900" y="2544961"/>
            <a:ext cx="4774565"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7FC1D6"/>
                </a:solidFill>
                <a:latin typeface="Arial" pitchFamily="34" charset="0"/>
                <a:ea typeface="Arial" pitchFamily="34" charset="-122"/>
                <a:cs typeface="Arial" pitchFamily="34" charset="-120"/>
              </a:rPr>
              <a:t>1 · Wrong denominator</a:t>
            </a:r>
            <a:endParaRPr lang="en-US" sz="1400" dirty="0"/>
          </a:p>
        </p:txBody>
      </p:sp>
      <p:sp>
        <p:nvSpPr>
          <p:cNvPr id="7" name="Text 5"/>
          <p:cNvSpPr/>
          <p:nvPr/>
        </p:nvSpPr>
        <p:spPr>
          <a:xfrm>
            <a:off x="1104900" y="2793851"/>
            <a:ext cx="4774565"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8EDF3"/>
                </a:solidFill>
                <a:latin typeface="Arial" pitchFamily="34" charset="0"/>
                <a:ea typeface="Arial" pitchFamily="34" charset="-122"/>
                <a:cs typeface="Arial" pitchFamily="34" charset="-120"/>
              </a:rPr>
              <a:t>The false positive rate is not calculated over total payments screened, so it cannot be compared with the impact on customers.</a:t>
            </a:r>
            <a:endParaRPr lang="en-US" sz="1500" dirty="0"/>
          </a:p>
        </p:txBody>
      </p:sp>
      <p:sp>
        <p:nvSpPr>
          <p:cNvPr id="8" name="Shape 6"/>
          <p:cNvSpPr/>
          <p:nvPr/>
        </p:nvSpPr>
        <p:spPr>
          <a:xfrm>
            <a:off x="6197600" y="2290961"/>
            <a:ext cx="5181600" cy="1826320"/>
          </a:xfrm>
          <a:prstGeom prst="rect">
            <a:avLst/>
          </a:prstGeom>
          <a:solidFill>
            <a:srgbClr val="1F2D40"/>
          </a:solidFill>
          <a:ln/>
        </p:spPr>
      </p:sp>
      <p:sp>
        <p:nvSpPr>
          <p:cNvPr id="9" name="Shape 7"/>
          <p:cNvSpPr/>
          <p:nvPr/>
        </p:nvSpPr>
        <p:spPr>
          <a:xfrm>
            <a:off x="6216650" y="2290961"/>
            <a:ext cx="0" cy="1826320"/>
          </a:xfrm>
          <a:prstGeom prst="line">
            <a:avLst/>
          </a:prstGeom>
          <a:noFill/>
          <a:ln w="38100">
            <a:solidFill>
              <a:srgbClr val="E0A526"/>
            </a:solidFill>
            <a:prstDash val="solid"/>
          </a:ln>
        </p:spPr>
      </p:sp>
      <p:sp>
        <p:nvSpPr>
          <p:cNvPr id="10" name="Text 8"/>
          <p:cNvSpPr/>
          <p:nvPr/>
        </p:nvSpPr>
        <p:spPr>
          <a:xfrm>
            <a:off x="6489700" y="2544961"/>
            <a:ext cx="4774565"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7FC1D6"/>
                </a:solidFill>
                <a:latin typeface="Arial" pitchFamily="34" charset="0"/>
                <a:ea typeface="Arial" pitchFamily="34" charset="-122"/>
                <a:cs typeface="Arial" pitchFamily="34" charset="-120"/>
              </a:rPr>
              <a:t>2 · Reporting lag</a:t>
            </a:r>
            <a:endParaRPr lang="en-US" sz="1400" dirty="0"/>
          </a:p>
        </p:txBody>
      </p:sp>
      <p:sp>
        <p:nvSpPr>
          <p:cNvPr id="11" name="Text 9"/>
          <p:cNvSpPr/>
          <p:nvPr/>
        </p:nvSpPr>
        <p:spPr>
          <a:xfrm>
            <a:off x="6489700" y="2793851"/>
            <a:ext cx="4774565"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8EDF3"/>
                </a:solidFill>
                <a:latin typeface="Arial" pitchFamily="34" charset="0"/>
                <a:ea typeface="Arial" pitchFamily="34" charset="-122"/>
                <a:cs typeface="Arial" pitchFamily="34" charset="-120"/>
              </a:rPr>
              <a:t>Precision falls in the most recent months, which is consistent with fraud confirmations arriving late, not with worse performance.</a:t>
            </a:r>
            <a:endParaRPr lang="en-US" sz="1500" dirty="0"/>
          </a:p>
        </p:txBody>
      </p:sp>
      <p:sp>
        <p:nvSpPr>
          <p:cNvPr id="12" name="Shape 10"/>
          <p:cNvSpPr/>
          <p:nvPr/>
        </p:nvSpPr>
        <p:spPr>
          <a:xfrm>
            <a:off x="812800" y="4320480"/>
            <a:ext cx="5181600" cy="1826320"/>
          </a:xfrm>
          <a:prstGeom prst="rect">
            <a:avLst/>
          </a:prstGeom>
          <a:solidFill>
            <a:srgbClr val="1F2D40"/>
          </a:solidFill>
          <a:ln/>
        </p:spPr>
      </p:sp>
      <p:sp>
        <p:nvSpPr>
          <p:cNvPr id="13" name="Shape 11"/>
          <p:cNvSpPr/>
          <p:nvPr/>
        </p:nvSpPr>
        <p:spPr>
          <a:xfrm>
            <a:off x="831850" y="4320480"/>
            <a:ext cx="0" cy="1826320"/>
          </a:xfrm>
          <a:prstGeom prst="line">
            <a:avLst/>
          </a:prstGeom>
          <a:noFill/>
          <a:ln w="38100">
            <a:solidFill>
              <a:srgbClr val="E0A526"/>
            </a:solidFill>
            <a:prstDash val="solid"/>
          </a:ln>
        </p:spPr>
      </p:sp>
      <p:sp>
        <p:nvSpPr>
          <p:cNvPr id="14" name="Text 12"/>
          <p:cNvSpPr/>
          <p:nvPr/>
        </p:nvSpPr>
        <p:spPr>
          <a:xfrm>
            <a:off x="1104900" y="4574480"/>
            <a:ext cx="4774565"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7FC1D6"/>
                </a:solidFill>
                <a:latin typeface="Arial" pitchFamily="34" charset="0"/>
                <a:ea typeface="Arial" pitchFamily="34" charset="-122"/>
                <a:cs typeface="Arial" pitchFamily="34" charset="-120"/>
              </a:rPr>
              <a:t>3 · NULL time frame</a:t>
            </a:r>
            <a:endParaRPr lang="en-US" sz="1400" dirty="0"/>
          </a:p>
        </p:txBody>
      </p:sp>
      <p:sp>
        <p:nvSpPr>
          <p:cNvPr id="15" name="Text 13"/>
          <p:cNvSpPr/>
          <p:nvPr/>
        </p:nvSpPr>
        <p:spPr>
          <a:xfrm>
            <a:off x="1104900" y="4823371"/>
            <a:ext cx="4774565"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8EDF3"/>
                </a:solidFill>
                <a:latin typeface="Arial" pitchFamily="34" charset="0"/>
                <a:ea typeface="Arial" pitchFamily="34" charset="-122"/>
                <a:cs typeface="Arial" pitchFamily="34" charset="-120"/>
              </a:rPr>
              <a:t>The SQL joins hits to the last 3 months of transactions, so some hits have no time frame and drop out of the monthly view.</a:t>
            </a:r>
            <a:endParaRPr lang="en-US" sz="1500" dirty="0"/>
          </a:p>
        </p:txBody>
      </p:sp>
      <p:sp>
        <p:nvSpPr>
          <p:cNvPr id="16" name="Shape 14"/>
          <p:cNvSpPr/>
          <p:nvPr/>
        </p:nvSpPr>
        <p:spPr>
          <a:xfrm>
            <a:off x="6197600" y="4320480"/>
            <a:ext cx="5181600" cy="1826320"/>
          </a:xfrm>
          <a:prstGeom prst="rect">
            <a:avLst/>
          </a:prstGeom>
          <a:solidFill>
            <a:srgbClr val="1F2D40"/>
          </a:solidFill>
          <a:ln/>
        </p:spPr>
      </p:sp>
      <p:sp>
        <p:nvSpPr>
          <p:cNvPr id="17" name="Shape 15"/>
          <p:cNvSpPr/>
          <p:nvPr/>
        </p:nvSpPr>
        <p:spPr>
          <a:xfrm>
            <a:off x="6216650" y="4320480"/>
            <a:ext cx="0" cy="1826320"/>
          </a:xfrm>
          <a:prstGeom prst="line">
            <a:avLst/>
          </a:prstGeom>
          <a:noFill/>
          <a:ln w="38100">
            <a:solidFill>
              <a:srgbClr val="E0A526"/>
            </a:solidFill>
            <a:prstDash val="solid"/>
          </a:ln>
        </p:spPr>
      </p:sp>
      <p:sp>
        <p:nvSpPr>
          <p:cNvPr id="18" name="Text 16"/>
          <p:cNvSpPr/>
          <p:nvPr/>
        </p:nvSpPr>
        <p:spPr>
          <a:xfrm>
            <a:off x="6489700" y="4574480"/>
            <a:ext cx="4774565"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7FC1D6"/>
                </a:solidFill>
                <a:latin typeface="Arial" pitchFamily="34" charset="0"/>
                <a:ea typeface="Arial" pitchFamily="34" charset="-122"/>
                <a:cs typeface="Arial" pitchFamily="34" charset="-120"/>
              </a:rPr>
              <a:t>4 · No false negatives</a:t>
            </a:r>
            <a:endParaRPr lang="en-US" sz="1400" dirty="0"/>
          </a:p>
        </p:txBody>
      </p:sp>
      <p:sp>
        <p:nvSpPr>
          <p:cNvPr id="19" name="Text 17"/>
          <p:cNvSpPr/>
          <p:nvPr/>
        </p:nvSpPr>
        <p:spPr>
          <a:xfrm>
            <a:off x="6489700" y="4823371"/>
            <a:ext cx="4774565"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8EDF3"/>
                </a:solidFill>
                <a:latin typeface="Arial" pitchFamily="34" charset="0"/>
                <a:ea typeface="Arial" pitchFamily="34" charset="-122"/>
                <a:cs typeface="Arial" pitchFamily="34" charset="-120"/>
              </a:rPr>
              <a:t>Fraud that ROVA missed is not captured, so recall and detection rate cannot be measured.</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B7A93"/>
                </a:solidFill>
                <a:latin typeface="Arial" pitchFamily="34" charset="0"/>
                <a:ea typeface="Arial" pitchFamily="34" charset="-122"/>
                <a:cs typeface="Arial" pitchFamily="34" charset="-120"/>
              </a:rPr>
              <a:t>FINDINGS · NULL TIME FRAME</a:t>
            </a:r>
            <a:endParaRPr lang="en-US" sz="1200" dirty="0"/>
          </a:p>
        </p:txBody>
      </p:sp>
      <p:sp>
        <p:nvSpPr>
          <p:cNvPr id="3" name="Text 1"/>
          <p:cNvSpPr/>
          <p:nvPr>
            <p:ph type="title"/>
          </p:nvPr>
        </p:nvSpPr>
        <p:spPr>
          <a:xfrm>
            <a:off x="812800" y="924520"/>
            <a:ext cx="10883392" cy="1087041"/>
          </a:xfrm>
          <a:prstGeom prst="rect">
            <a:avLst/>
          </a:prstGeom>
          <a:noFill/>
          <a:ln/>
        </p:spPr>
        <p:txBody>
          <a:bodyPr wrap="square" lIns="0" tIns="0" rIns="0" bIns="0" rtlCol="0" anchor="t">
            <a:normAutofit/>
          </a:bodyPr>
          <a:lstStyle/>
          <a:p>
            <a:pPr algn="l" indent="0" marL="0">
              <a:lnSpc>
                <a:spcPts val="4180"/>
              </a:lnSpc>
              <a:buNone/>
            </a:pPr>
            <a:r>
              <a:rPr lang="en-US" sz="3800" b="0" i="0" dirty="0">
                <a:solidFill>
                  <a:srgbClr val="16202E"/>
                </a:solidFill>
                <a:latin typeface="Georgia" pitchFamily="18" charset="0"/>
                <a:ea typeface="Georgia" pitchFamily="18" charset="-122"/>
                <a:cs typeface="Georgia" pitchFamily="18" charset="-120"/>
              </a:rPr>
              <a:t>Some hits have no time frame, and we do not know whether they are TP or FP</a:t>
            </a:r>
            <a:endParaRPr lang="en-US" sz="3800" dirty="0"/>
          </a:p>
        </p:txBody>
      </p:sp>
      <p:sp>
        <p:nvSpPr>
          <p:cNvPr id="4" name="Shape 2"/>
          <p:cNvSpPr/>
          <p:nvPr/>
        </p:nvSpPr>
        <p:spPr>
          <a:xfrm>
            <a:off x="812800" y="2290961"/>
            <a:ext cx="5130800" cy="3284339"/>
          </a:xfrm>
          <a:prstGeom prst="rect">
            <a:avLst/>
          </a:prstGeom>
          <a:solidFill>
            <a:srgbClr val="FFFFFF"/>
          </a:solidFill>
          <a:ln/>
        </p:spPr>
      </p:sp>
      <p:sp>
        <p:nvSpPr>
          <p:cNvPr id="5" name="Text 3"/>
          <p:cNvSpPr/>
          <p:nvPr/>
        </p:nvSpPr>
        <p:spPr>
          <a:xfrm>
            <a:off x="1092200" y="2570361"/>
            <a:ext cx="470916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02E"/>
                </a:solidFill>
                <a:latin typeface="Arial" pitchFamily="34" charset="0"/>
                <a:ea typeface="Arial" pitchFamily="34" charset="-122"/>
                <a:cs typeface="Arial" pitchFamily="34" charset="-120"/>
              </a:rPr>
              <a:t>Why it happens</a:t>
            </a:r>
            <a:endParaRPr lang="en-US" sz="1800" dirty="0"/>
          </a:p>
        </p:txBody>
      </p:sp>
      <p:sp>
        <p:nvSpPr>
          <p:cNvPr id="6" name="Text 4"/>
          <p:cNvSpPr/>
          <p:nvPr/>
        </p:nvSpPr>
        <p:spPr>
          <a:xfrm>
            <a:off x="1092200" y="2984351"/>
            <a:ext cx="4709160"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4756"/>
                </a:solidFill>
                <a:latin typeface="Arial" pitchFamily="34" charset="0"/>
                <a:ea typeface="Arial" pitchFamily="34" charset="-122"/>
                <a:cs typeface="Arial" pitchFamily="34" charset="-120"/>
              </a:rPr>
              <a:t>The query takes hits with a case status in the last 3 months, then left-joins the last 3 months of transaction data.</a:t>
            </a:r>
            <a:endParaRPr lang="en-US" sz="1500" dirty="0"/>
          </a:p>
        </p:txBody>
      </p:sp>
      <p:sp>
        <p:nvSpPr>
          <p:cNvPr id="7" name="Text 5"/>
          <p:cNvSpPr/>
          <p:nvPr/>
        </p:nvSpPr>
        <p:spPr>
          <a:xfrm>
            <a:off x="1092200" y="3924151"/>
            <a:ext cx="470916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4756"/>
                </a:solidFill>
                <a:latin typeface="Arial" pitchFamily="34" charset="0"/>
                <a:ea typeface="Arial" pitchFamily="34" charset="-122"/>
                <a:cs typeface="Arial" pitchFamily="34" charset="-120"/>
              </a:rPr>
              <a:t>A hit whose transaction falls outside that window finds no match and comes through with a NULL time frame.</a:t>
            </a:r>
            <a:endParaRPr lang="en-US" sz="1500" dirty="0"/>
          </a:p>
        </p:txBody>
      </p:sp>
      <p:sp>
        <p:nvSpPr>
          <p:cNvPr id="8" name="Shape 6"/>
          <p:cNvSpPr/>
          <p:nvPr/>
        </p:nvSpPr>
        <p:spPr>
          <a:xfrm>
            <a:off x="6248400" y="2290961"/>
            <a:ext cx="5130800" cy="3284339"/>
          </a:xfrm>
          <a:prstGeom prst="rect">
            <a:avLst/>
          </a:prstGeom>
          <a:solidFill>
            <a:srgbClr val="FFFFFF"/>
          </a:solidFill>
          <a:ln/>
        </p:spPr>
      </p:sp>
      <p:sp>
        <p:nvSpPr>
          <p:cNvPr id="9" name="Shape 7"/>
          <p:cNvSpPr/>
          <p:nvPr/>
        </p:nvSpPr>
        <p:spPr>
          <a:xfrm>
            <a:off x="6248400" y="2310011"/>
            <a:ext cx="5130800" cy="0"/>
          </a:xfrm>
          <a:prstGeom prst="line">
            <a:avLst/>
          </a:prstGeom>
          <a:noFill/>
          <a:ln w="38100">
            <a:solidFill>
              <a:srgbClr val="B5542F"/>
            </a:solidFill>
            <a:prstDash val="solid"/>
          </a:ln>
        </p:spPr>
      </p:sp>
      <p:sp>
        <p:nvSpPr>
          <p:cNvPr id="10" name="Text 8"/>
          <p:cNvSpPr/>
          <p:nvPr/>
        </p:nvSpPr>
        <p:spPr>
          <a:xfrm>
            <a:off x="6527800" y="2608461"/>
            <a:ext cx="470916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02E"/>
                </a:solidFill>
                <a:latin typeface="Arial" pitchFamily="34" charset="0"/>
                <a:ea typeface="Arial" pitchFamily="34" charset="-122"/>
                <a:cs typeface="Arial" pitchFamily="34" charset="-120"/>
              </a:rPr>
              <a:t>Why it matters</a:t>
            </a:r>
            <a:endParaRPr lang="en-US" sz="1800" dirty="0"/>
          </a:p>
        </p:txBody>
      </p:sp>
      <p:sp>
        <p:nvSpPr>
          <p:cNvPr id="11" name="Text 9"/>
          <p:cNvSpPr/>
          <p:nvPr/>
        </p:nvSpPr>
        <p:spPr>
          <a:xfrm>
            <a:off x="6527800" y="3022451"/>
            <a:ext cx="4709160"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4756"/>
                </a:solidFill>
                <a:latin typeface="Arial" pitchFamily="34" charset="0"/>
                <a:ea typeface="Arial" pitchFamily="34" charset="-122"/>
                <a:cs typeface="Arial" pitchFamily="34" charset="-120"/>
              </a:rPr>
              <a:t>These rows are left out of the monthly precision. If they are late-confirmed fraud, the TP count is understated.</a:t>
            </a:r>
            <a:endParaRPr lang="en-US" sz="1500" dirty="0"/>
          </a:p>
        </p:txBody>
      </p:sp>
      <p:sp>
        <p:nvSpPr>
          <p:cNvPr id="12" name="Text 10"/>
          <p:cNvSpPr/>
          <p:nvPr/>
        </p:nvSpPr>
        <p:spPr>
          <a:xfrm>
            <a:off x="6527800" y="3962251"/>
            <a:ext cx="4709160"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4756"/>
                </a:solidFill>
                <a:latin typeface="Arial" pitchFamily="34" charset="0"/>
                <a:ea typeface="Arial" pitchFamily="34" charset="-122"/>
                <a:cs typeface="Arial" pitchFamily="34" charset="-120"/>
              </a:rPr>
              <a:t>The NULL rows we saw were labelled FP, which would push the other way. We need the TP and FP mix from the owners.</a:t>
            </a:r>
            <a:endParaRPr lang="en-US" sz="1500" dirty="0"/>
          </a:p>
        </p:txBody>
      </p:sp>
      <p:sp>
        <p:nvSpPr>
          <p:cNvPr id="13" name="Shape 11"/>
          <p:cNvSpPr/>
          <p:nvPr/>
        </p:nvSpPr>
        <p:spPr>
          <a:xfrm>
            <a:off x="831850" y="5880100"/>
            <a:ext cx="0" cy="266700"/>
          </a:xfrm>
          <a:prstGeom prst="line">
            <a:avLst/>
          </a:prstGeom>
          <a:noFill/>
          <a:ln w="38100">
            <a:solidFill>
              <a:srgbClr val="2B7A93"/>
            </a:solidFill>
            <a:prstDash val="solid"/>
          </a:ln>
        </p:spPr>
      </p:sp>
      <p:sp>
        <p:nvSpPr>
          <p:cNvPr id="14" name="Text 12"/>
          <p:cNvSpPr/>
          <p:nvPr/>
        </p:nvSpPr>
        <p:spPr>
          <a:xfrm>
            <a:off x="1028700" y="5880100"/>
            <a:ext cx="10661015"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6202E"/>
                </a:solidFill>
                <a:latin typeface="Arial" pitchFamily="34" charset="0"/>
                <a:ea typeface="Arial" pitchFamily="34" charset="-122"/>
                <a:cs typeface="Arial" pitchFamily="34" charset="-120"/>
              </a:rPr>
              <a:t>Ask: how many NULL rows are there, what share of all alerts do they represent, and how do they split into TP and FP?</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B7A93"/>
                </a:solidFill>
                <a:latin typeface="Arial" pitchFamily="34" charset="0"/>
                <a:ea typeface="Arial" pitchFamily="34" charset="-122"/>
                <a:cs typeface="Arial" pitchFamily="34" charset="-120"/>
              </a:rPr>
              <a:t>FINDINGS · REPORTING LAG</a:t>
            </a:r>
            <a:endParaRPr lang="en-US" sz="1200" dirty="0"/>
          </a:p>
        </p:txBody>
      </p:sp>
      <p:sp>
        <p:nvSpPr>
          <p:cNvPr id="3" name="Text 1"/>
          <p:cNvSpPr/>
          <p:nvPr>
            <p:ph type="title"/>
          </p:nvPr>
        </p:nvSpPr>
        <p:spPr>
          <a:xfrm>
            <a:off x="812800" y="924520"/>
            <a:ext cx="10883392" cy="1087041"/>
          </a:xfrm>
          <a:prstGeom prst="rect">
            <a:avLst/>
          </a:prstGeom>
          <a:noFill/>
          <a:ln/>
        </p:spPr>
        <p:txBody>
          <a:bodyPr wrap="square" lIns="0" tIns="0" rIns="0" bIns="0" rtlCol="0" anchor="t">
            <a:normAutofit/>
          </a:bodyPr>
          <a:lstStyle/>
          <a:p>
            <a:pPr algn="l" indent="0" marL="0">
              <a:lnSpc>
                <a:spcPts val="4180"/>
              </a:lnSpc>
              <a:buNone/>
            </a:pPr>
            <a:r>
              <a:rPr lang="en-US" sz="3800" b="0" i="0" dirty="0">
                <a:solidFill>
                  <a:srgbClr val="16202E"/>
                </a:solidFill>
                <a:latin typeface="Georgia" pitchFamily="18" charset="0"/>
                <a:ea typeface="Georgia" pitchFamily="18" charset="-122"/>
                <a:cs typeface="Georgia" pitchFamily="18" charset="-120"/>
              </a:rPr>
              <a:t>Recent months look worse because confirmations arrive late</a:t>
            </a:r>
            <a:endParaRPr lang="en-US" sz="3800" dirty="0"/>
          </a:p>
        </p:txBody>
      </p:sp>
      <p:sp>
        <p:nvSpPr>
          <p:cNvPr id="4" name="Text 2"/>
          <p:cNvSpPr/>
          <p:nvPr/>
        </p:nvSpPr>
        <p:spPr>
          <a:xfrm>
            <a:off x="812800" y="2290961"/>
            <a:ext cx="4996942"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6202E"/>
                </a:solidFill>
                <a:latin typeface="Arial" pitchFamily="34" charset="0"/>
                <a:ea typeface="Arial" pitchFamily="34" charset="-122"/>
                <a:cs typeface="Arial" pitchFamily="34" charset="-120"/>
              </a:rPr>
              <a:t>An alert is counted FP until fraud is confirmed. Confirmation can take weeks, so the newest months hold TPs that have not been recorded yet.</a:t>
            </a:r>
            <a:endParaRPr lang="en-US" sz="1600" dirty="0"/>
          </a:p>
        </p:txBody>
      </p:sp>
      <p:sp>
        <p:nvSpPr>
          <p:cNvPr id="5" name="Text 3"/>
          <p:cNvSpPr/>
          <p:nvPr/>
        </p:nvSpPr>
        <p:spPr>
          <a:xfrm>
            <a:off x="812800" y="3296741"/>
            <a:ext cx="4996942"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6202E"/>
                </a:solidFill>
                <a:latin typeface="Arial" pitchFamily="34" charset="0"/>
                <a:ea typeface="Arial" pitchFamily="34" charset="-122"/>
                <a:cs typeface="Arial" pitchFamily="34" charset="-120"/>
              </a:rPr>
              <a:t>The month in progress (month 0) is partial and we exclude it from our comparisons.</a:t>
            </a:r>
            <a:endParaRPr lang="en-US" sz="1600" dirty="0"/>
          </a:p>
        </p:txBody>
      </p:sp>
      <p:sp>
        <p:nvSpPr>
          <p:cNvPr id="6" name="Text 4"/>
          <p:cNvSpPr/>
          <p:nvPr/>
        </p:nvSpPr>
        <p:spPr>
          <a:xfrm>
            <a:off x="812800" y="4018062"/>
            <a:ext cx="4996942"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6202E"/>
                </a:solidFill>
                <a:latin typeface="Arial" pitchFamily="34" charset="0"/>
                <a:ea typeface="Arial" pitchFamily="34" charset="-122"/>
                <a:cs typeface="Arial" pitchFamily="34" charset="-120"/>
              </a:rPr>
              <a:t>Without an adjustment, a drop in precision cannot be read as a drop in performance.</a:t>
            </a:r>
            <a:endParaRPr lang="en-US" sz="1600" dirty="0"/>
          </a:p>
        </p:txBody>
      </p:sp>
      <p:sp>
        <p:nvSpPr>
          <p:cNvPr id="7" name="Shape 5"/>
          <p:cNvSpPr/>
          <p:nvPr/>
        </p:nvSpPr>
        <p:spPr>
          <a:xfrm>
            <a:off x="5969000" y="2290961"/>
            <a:ext cx="5410200" cy="3855839"/>
          </a:xfrm>
          <a:prstGeom prst="rect">
            <a:avLst/>
          </a:prstGeom>
          <a:solidFill>
            <a:srgbClr val="FFFFFF"/>
          </a:solidFill>
          <a:ln/>
        </p:spPr>
      </p:sp>
      <p:sp>
        <p:nvSpPr>
          <p:cNvPr id="8" name="Text 6"/>
          <p:cNvSpPr/>
          <p:nvPr/>
        </p:nvSpPr>
        <p:spPr>
          <a:xfrm>
            <a:off x="6248400" y="2570361"/>
            <a:ext cx="4996942"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02E"/>
                </a:solidFill>
                <a:latin typeface="Arial" pitchFamily="34" charset="0"/>
                <a:ea typeface="Arial" pitchFamily="34" charset="-122"/>
                <a:cs typeface="Arial" pitchFamily="34" charset="-120"/>
              </a:rPr>
              <a:t>What we propose to measure</a:t>
            </a:r>
            <a:endParaRPr lang="en-US" sz="1800" dirty="0"/>
          </a:p>
        </p:txBody>
      </p:sp>
      <p:sp>
        <p:nvSpPr>
          <p:cNvPr id="9" name="Text 7"/>
          <p:cNvSpPr/>
          <p:nvPr/>
        </p:nvSpPr>
        <p:spPr>
          <a:xfrm>
            <a:off x="6248400" y="2971651"/>
            <a:ext cx="4996942"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3A4756"/>
                </a:solidFill>
                <a:latin typeface="Arial" pitchFamily="34" charset="0"/>
                <a:ea typeface="Arial" pitchFamily="34" charset="-122"/>
                <a:cs typeface="Arial" pitchFamily="34" charset="-120"/>
              </a:rPr>
              <a:t>Lag index.</a:t>
            </a:r>
            <a:r>
              <a:rPr lang="en-US" sz="1500" dirty="0">
                <a:solidFill>
                  <a:srgbClr val="3A4756"/>
                </a:solidFill>
                <a:latin typeface="Arial" pitchFamily="34" charset="0"/>
                <a:ea typeface="Arial" pitchFamily="34" charset="-122"/>
                <a:cs typeface="Arial" pitchFamily="34" charset="-120"/>
              </a:rPr>
              <a:t> Precision in months 1–3 divided by precision in months 4–6, for scenarios with enough TPs.</a:t>
            </a:r>
            <a:endParaRPr lang="en-US" sz="1500" dirty="0"/>
          </a:p>
        </p:txBody>
      </p:sp>
      <p:sp>
        <p:nvSpPr>
          <p:cNvPr id="10" name="Text 8"/>
          <p:cNvSpPr/>
          <p:nvPr/>
        </p:nvSpPr>
        <p:spPr>
          <a:xfrm>
            <a:off x="6248400" y="3632051"/>
            <a:ext cx="4996942" cy="8255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3A4756"/>
                </a:solidFill>
                <a:latin typeface="Arial" pitchFamily="34" charset="0"/>
                <a:ea typeface="Arial" pitchFamily="34" charset="-122"/>
                <a:cs typeface="Arial" pitchFamily="34" charset="-120"/>
              </a:rPr>
              <a:t>Portfolio precision by month index (0–6).</a:t>
            </a:r>
            <a:r>
              <a:rPr lang="en-US" sz="1500" dirty="0">
                <a:solidFill>
                  <a:srgbClr val="3A4756"/>
                </a:solidFill>
                <a:latin typeface="Arial" pitchFamily="34" charset="0"/>
                <a:ea typeface="Arial" pitchFamily="34" charset="-122"/>
                <a:cs typeface="Arial" pitchFamily="34" charset="-120"/>
              </a:rPr>
              <a:t> A steady slide towards month 0 points to lag, not to scenario decay.</a:t>
            </a:r>
            <a:endParaRPr lang="en-US" sz="1500" dirty="0"/>
          </a:p>
        </p:txBody>
      </p:sp>
      <p:sp>
        <p:nvSpPr>
          <p:cNvPr id="11" name="Text 9"/>
          <p:cNvSpPr/>
          <p:nvPr/>
        </p:nvSpPr>
        <p:spPr>
          <a:xfrm>
            <a:off x="6248400" y="4559151"/>
            <a:ext cx="4996942"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3A4756"/>
                </a:solidFill>
                <a:latin typeface="Arial" pitchFamily="34" charset="0"/>
                <a:ea typeface="Arial" pitchFamily="34" charset="-122"/>
                <a:cs typeface="Arial" pitchFamily="34" charset="-120"/>
              </a:rPr>
              <a:t>Ask the owners</a:t>
            </a:r>
            <a:r>
              <a:rPr lang="en-US" sz="1500" dirty="0">
                <a:solidFill>
                  <a:srgbClr val="3A4756"/>
                </a:solidFill>
                <a:latin typeface="Arial" pitchFamily="34" charset="0"/>
                <a:ea typeface="Arial" pitchFamily="34" charset="-122"/>
                <a:cs typeface="Arial" pitchFamily="34" charset="-120"/>
              </a:rPr>
              <a:t> for the typical time to confirmation, so older months can be treated as mature.</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B7A93"/>
                </a:solidFill>
                <a:latin typeface="Arial" pitchFamily="34" charset="0"/>
                <a:ea typeface="Arial" pitchFamily="34" charset="-122"/>
                <a:cs typeface="Arial" pitchFamily="34" charset="-120"/>
              </a:rPr>
              <a:t>CHALLENGE · UNCERTAINTY</a:t>
            </a:r>
            <a:endParaRPr lang="en-US" sz="1200" dirty="0"/>
          </a:p>
        </p:txBody>
      </p:sp>
      <p:sp>
        <p:nvSpPr>
          <p:cNvPr id="3" name="Text 1"/>
          <p:cNvSpPr/>
          <p:nvPr>
            <p:ph type="title"/>
          </p:nvPr>
        </p:nvSpPr>
        <p:spPr>
          <a:xfrm>
            <a:off x="812800" y="924520"/>
            <a:ext cx="10883392" cy="1087041"/>
          </a:xfrm>
          <a:prstGeom prst="rect">
            <a:avLst/>
          </a:prstGeom>
          <a:noFill/>
          <a:ln/>
        </p:spPr>
        <p:txBody>
          <a:bodyPr wrap="square" lIns="0" tIns="0" rIns="0" bIns="0" rtlCol="0" anchor="t">
            <a:normAutofit/>
          </a:bodyPr>
          <a:lstStyle/>
          <a:p>
            <a:pPr algn="l" indent="0" marL="0">
              <a:lnSpc>
                <a:spcPts val="4180"/>
              </a:lnSpc>
              <a:buNone/>
            </a:pPr>
            <a:r>
              <a:rPr lang="en-US" sz="3800" b="0" i="0" dirty="0">
                <a:solidFill>
                  <a:srgbClr val="16202E"/>
                </a:solidFill>
                <a:latin typeface="Georgia" pitchFamily="18" charset="0"/>
                <a:ea typeface="Georgia" pitchFamily="18" charset="-122"/>
                <a:cs typeface="Georgia" pitchFamily="18" charset="-120"/>
              </a:rPr>
              <a:t>A colour needs the evidence behind it: add intervals and tests</a:t>
            </a:r>
            <a:endParaRPr lang="en-US" sz="3800" dirty="0"/>
          </a:p>
        </p:txBody>
      </p:sp>
      <p:sp>
        <p:nvSpPr>
          <p:cNvPr id="4" name="Shape 2"/>
          <p:cNvSpPr/>
          <p:nvPr/>
        </p:nvSpPr>
        <p:spPr>
          <a:xfrm>
            <a:off x="812800" y="2290961"/>
            <a:ext cx="5130800" cy="3284339"/>
          </a:xfrm>
          <a:prstGeom prst="rect">
            <a:avLst/>
          </a:prstGeom>
          <a:solidFill>
            <a:srgbClr val="FFFFFF"/>
          </a:solidFill>
          <a:ln/>
        </p:spPr>
      </p:sp>
      <p:sp>
        <p:nvSpPr>
          <p:cNvPr id="5" name="Text 3"/>
          <p:cNvSpPr/>
          <p:nvPr/>
        </p:nvSpPr>
        <p:spPr>
          <a:xfrm>
            <a:off x="1092200" y="2570361"/>
            <a:ext cx="470916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02E"/>
                </a:solidFill>
                <a:latin typeface="Arial" pitchFamily="34" charset="0"/>
                <a:ea typeface="Arial" pitchFamily="34" charset="-122"/>
                <a:cs typeface="Arial" pitchFamily="34" charset="-120"/>
              </a:rPr>
              <a:t>Wilson 95% interval on precision</a:t>
            </a:r>
            <a:endParaRPr lang="en-US" sz="1800" dirty="0"/>
          </a:p>
        </p:txBody>
      </p:sp>
      <p:sp>
        <p:nvSpPr>
          <p:cNvPr id="6" name="Text 4"/>
          <p:cNvSpPr/>
          <p:nvPr/>
        </p:nvSpPr>
        <p:spPr>
          <a:xfrm>
            <a:off x="1092200" y="2971651"/>
            <a:ext cx="4709160"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4756"/>
                </a:solidFill>
                <a:latin typeface="Arial" pitchFamily="34" charset="0"/>
                <a:ea typeface="Arial" pitchFamily="34" charset="-122"/>
                <a:cs typeface="Arial" pitchFamily="34" charset="-120"/>
              </a:rPr>
              <a:t>Computed for 3M, Prior 3M and 6M per scenario. A wide interval means the ratio could move a long way with a few more alerts.</a:t>
            </a:r>
            <a:endParaRPr lang="en-US" sz="1500" dirty="0"/>
          </a:p>
        </p:txBody>
      </p:sp>
      <p:sp>
        <p:nvSpPr>
          <p:cNvPr id="7" name="Text 5"/>
          <p:cNvSpPr/>
          <p:nvPr/>
        </p:nvSpPr>
        <p:spPr>
          <a:xfrm>
            <a:off x="1092200" y="3898751"/>
            <a:ext cx="4709160"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4756"/>
                </a:solidFill>
                <a:latin typeface="Arial" pitchFamily="34" charset="0"/>
                <a:ea typeface="Arial" pitchFamily="34" charset="-122"/>
                <a:cs typeface="Arial" pitchFamily="34" charset="-120"/>
              </a:rPr>
              <a:t>With zero TPs the upper bound is z² / (n + z²), about 3.8 / (n + 3.8). For 30 alerts this is still about 11%, so "no TPs" is not proof of "no value".</a:t>
            </a:r>
            <a:endParaRPr lang="en-US" sz="1500" dirty="0"/>
          </a:p>
        </p:txBody>
      </p:sp>
      <p:sp>
        <p:nvSpPr>
          <p:cNvPr id="8" name="Shape 6"/>
          <p:cNvSpPr/>
          <p:nvPr/>
        </p:nvSpPr>
        <p:spPr>
          <a:xfrm>
            <a:off x="6248400" y="2290961"/>
            <a:ext cx="5130800" cy="3284339"/>
          </a:xfrm>
          <a:prstGeom prst="rect">
            <a:avLst/>
          </a:prstGeom>
          <a:solidFill>
            <a:srgbClr val="FFFFFF"/>
          </a:solidFill>
          <a:ln/>
        </p:spPr>
      </p:sp>
      <p:sp>
        <p:nvSpPr>
          <p:cNvPr id="9" name="Text 7"/>
          <p:cNvSpPr/>
          <p:nvPr/>
        </p:nvSpPr>
        <p:spPr>
          <a:xfrm>
            <a:off x="6527800" y="2570361"/>
            <a:ext cx="470916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02E"/>
                </a:solidFill>
                <a:latin typeface="Arial" pitchFamily="34" charset="0"/>
                <a:ea typeface="Arial" pitchFamily="34" charset="-122"/>
                <a:cs typeface="Arial" pitchFamily="34" charset="-120"/>
              </a:rPr>
              <a:t>Test 3M against Prior 3M</a:t>
            </a:r>
            <a:endParaRPr lang="en-US" sz="1800" dirty="0"/>
          </a:p>
        </p:txBody>
      </p:sp>
      <p:sp>
        <p:nvSpPr>
          <p:cNvPr id="10" name="Text 8"/>
          <p:cNvSpPr/>
          <p:nvPr/>
        </p:nvSpPr>
        <p:spPr>
          <a:xfrm>
            <a:off x="6527800" y="2971651"/>
            <a:ext cx="470916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4756"/>
                </a:solidFill>
                <a:latin typeface="Arial" pitchFamily="34" charset="0"/>
                <a:ea typeface="Arial" pitchFamily="34" charset="-122"/>
                <a:cs typeface="Arial" pitchFamily="34" charset="-120"/>
              </a:rPr>
              <a:t>A two-proportion z-test when counts are large, and Fisher's exact test when they are small.</a:t>
            </a:r>
            <a:endParaRPr lang="en-US" sz="1500" dirty="0"/>
          </a:p>
        </p:txBody>
      </p:sp>
      <p:sp>
        <p:nvSpPr>
          <p:cNvPr id="11" name="Text 9"/>
          <p:cNvSpPr/>
          <p:nvPr/>
        </p:nvSpPr>
        <p:spPr>
          <a:xfrm>
            <a:off x="6527800" y="3632051"/>
            <a:ext cx="4709160"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4756"/>
                </a:solidFill>
                <a:latin typeface="Arial" pitchFamily="34" charset="0"/>
                <a:ea typeface="Arial" pitchFamily="34" charset="-122"/>
                <a:cs typeface="Arial" pitchFamily="34" charset="-120"/>
              </a:rPr>
              <a:t>Flag a colour as unsupported when the interval is wide or the alert count is below the minimum (100 alerts, 5 TPs in our template).</a:t>
            </a:r>
            <a:endParaRPr lang="en-US" sz="1500" dirty="0"/>
          </a:p>
        </p:txBody>
      </p:sp>
      <p:sp>
        <p:nvSpPr>
          <p:cNvPr id="12" name="Shape 10"/>
          <p:cNvSpPr/>
          <p:nvPr/>
        </p:nvSpPr>
        <p:spPr>
          <a:xfrm>
            <a:off x="831850" y="5880100"/>
            <a:ext cx="0" cy="266700"/>
          </a:xfrm>
          <a:prstGeom prst="line">
            <a:avLst/>
          </a:prstGeom>
          <a:noFill/>
          <a:ln w="38100">
            <a:solidFill>
              <a:srgbClr val="2B7A93"/>
            </a:solidFill>
            <a:prstDash val="solid"/>
          </a:ln>
        </p:spPr>
      </p:sp>
      <p:sp>
        <p:nvSpPr>
          <p:cNvPr id="13" name="Text 11"/>
          <p:cNvSpPr/>
          <p:nvPr/>
        </p:nvSpPr>
        <p:spPr>
          <a:xfrm>
            <a:off x="1028700" y="5880100"/>
            <a:ext cx="10661015"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6202E"/>
                </a:solidFill>
                <a:latin typeface="Arial" pitchFamily="34" charset="0"/>
                <a:ea typeface="Arial" pitchFamily="34" charset="-122"/>
                <a:cs typeface="Arial" pitchFamily="34" charset="-120"/>
              </a:rPr>
              <a:t>A change in colour should only trigger action when the difference is statistically distinguishable from noise.</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B7A93"/>
                </a:solidFill>
                <a:latin typeface="Arial" pitchFamily="34" charset="0"/>
                <a:ea typeface="Arial" pitchFamily="34" charset="-122"/>
                <a:cs typeface="Arial" pitchFamily="34" charset="-120"/>
              </a:rPr>
              <a:t>CHALLENGE · CONCENTRATION AND STABILITY</a:t>
            </a:r>
            <a:endParaRPr lang="en-US" sz="1200" dirty="0"/>
          </a:p>
        </p:txBody>
      </p:sp>
      <p:sp>
        <p:nvSpPr>
          <p:cNvPr id="3" name="Text 1"/>
          <p:cNvSpPr/>
          <p:nvPr>
            <p:ph type="title"/>
          </p:nvPr>
        </p:nvSpPr>
        <p:spPr>
          <a:xfrm>
            <a:off x="812800" y="924520"/>
            <a:ext cx="10883392" cy="1087041"/>
          </a:xfrm>
          <a:prstGeom prst="rect">
            <a:avLst/>
          </a:prstGeom>
          <a:noFill/>
          <a:ln/>
        </p:spPr>
        <p:txBody>
          <a:bodyPr wrap="square" lIns="0" tIns="0" rIns="0" bIns="0" rtlCol="0" anchor="t">
            <a:normAutofit/>
          </a:bodyPr>
          <a:lstStyle/>
          <a:p>
            <a:pPr algn="l" indent="0" marL="0">
              <a:lnSpc>
                <a:spcPts val="4180"/>
              </a:lnSpc>
              <a:buNone/>
            </a:pPr>
            <a:r>
              <a:rPr lang="en-US" sz="3800" b="0" i="0" dirty="0">
                <a:solidFill>
                  <a:srgbClr val="16202E"/>
                </a:solidFill>
                <a:latin typeface="Georgia" pitchFamily="18" charset="0"/>
                <a:ea typeface="Georgia" pitchFamily="18" charset="-122"/>
                <a:cs typeface="Georgia" pitchFamily="18" charset="-120"/>
              </a:rPr>
              <a:t>Where do the TPs come from, and how steady is each scenario?</a:t>
            </a:r>
            <a:endParaRPr lang="en-US" sz="3800" dirty="0"/>
          </a:p>
        </p:txBody>
      </p:sp>
      <p:sp>
        <p:nvSpPr>
          <p:cNvPr id="4" name="Shape 2"/>
          <p:cNvSpPr/>
          <p:nvPr/>
        </p:nvSpPr>
        <p:spPr>
          <a:xfrm>
            <a:off x="812800" y="2290961"/>
            <a:ext cx="5130800" cy="3855839"/>
          </a:xfrm>
          <a:prstGeom prst="rect">
            <a:avLst/>
          </a:prstGeom>
          <a:solidFill>
            <a:srgbClr val="FFFFFF"/>
          </a:solidFill>
          <a:ln/>
        </p:spPr>
      </p:sp>
      <p:sp>
        <p:nvSpPr>
          <p:cNvPr id="5" name="Text 3"/>
          <p:cNvSpPr/>
          <p:nvPr/>
        </p:nvSpPr>
        <p:spPr>
          <a:xfrm>
            <a:off x="1092200" y="2570361"/>
            <a:ext cx="470916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02E"/>
                </a:solidFill>
                <a:latin typeface="Arial" pitchFamily="34" charset="0"/>
                <a:ea typeface="Arial" pitchFamily="34" charset="-122"/>
                <a:cs typeface="Arial" pitchFamily="34" charset="-120"/>
              </a:rPr>
              <a:t>Concentration</a:t>
            </a:r>
            <a:endParaRPr lang="en-US" sz="1800" dirty="0"/>
          </a:p>
        </p:txBody>
      </p:sp>
      <p:sp>
        <p:nvSpPr>
          <p:cNvPr id="6" name="Text 4"/>
          <p:cNvSpPr/>
          <p:nvPr/>
        </p:nvSpPr>
        <p:spPr>
          <a:xfrm>
            <a:off x="1092200" y="2971651"/>
            <a:ext cx="4709160" cy="8255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3A4756"/>
                </a:solidFill>
                <a:latin typeface="Arial" pitchFamily="34" charset="0"/>
                <a:ea typeface="Arial" pitchFamily="34" charset="-122"/>
                <a:cs typeface="Arial" pitchFamily="34" charset="-120"/>
              </a:rPr>
              <a:t>Pareto.</a:t>
            </a:r>
            <a:r>
              <a:rPr lang="en-US" sz="1500" dirty="0">
                <a:solidFill>
                  <a:srgbClr val="3A4756"/>
                </a:solidFill>
                <a:latin typeface="Arial" pitchFamily="34" charset="0"/>
                <a:ea typeface="Arial" pitchFamily="34" charset="-122"/>
                <a:cs typeface="Arial" pitchFamily="34" charset="-120"/>
              </a:rPr>
              <a:t> Rank scenarios by TP and by alerts, and see how many scenarios produce most TPs and most alerts.</a:t>
            </a:r>
            <a:endParaRPr lang="en-US" sz="1500" dirty="0"/>
          </a:p>
        </p:txBody>
      </p:sp>
      <p:sp>
        <p:nvSpPr>
          <p:cNvPr id="7" name="Text 5"/>
          <p:cNvSpPr/>
          <p:nvPr/>
        </p:nvSpPr>
        <p:spPr>
          <a:xfrm>
            <a:off x="1092200" y="3898751"/>
            <a:ext cx="4709160" cy="8255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3A4756"/>
                </a:solidFill>
                <a:latin typeface="Arial" pitchFamily="34" charset="0"/>
                <a:ea typeface="Arial" pitchFamily="34" charset="-122"/>
                <a:cs typeface="Arial" pitchFamily="34" charset="-120"/>
              </a:rPr>
              <a:t>Zero-TP scenarios.</a:t>
            </a:r>
            <a:r>
              <a:rPr lang="en-US" sz="1500" dirty="0">
                <a:solidFill>
                  <a:srgbClr val="3A4756"/>
                </a:solidFill>
                <a:latin typeface="Arial" pitchFamily="34" charset="0"/>
                <a:ea typeface="Arial" pitchFamily="34" charset="-122"/>
                <a:cs typeface="Arial" pitchFamily="34" charset="-120"/>
              </a:rPr>
              <a:t> List scenarios with alerts but no TP in the window, with their alert volume and the Wilson upper bound.</a:t>
            </a:r>
            <a:endParaRPr lang="en-US" sz="1500" dirty="0"/>
          </a:p>
        </p:txBody>
      </p:sp>
      <p:sp>
        <p:nvSpPr>
          <p:cNvPr id="8" name="Text 6"/>
          <p:cNvSpPr/>
          <p:nvPr/>
        </p:nvSpPr>
        <p:spPr>
          <a:xfrm>
            <a:off x="1092200" y="4825851"/>
            <a:ext cx="4709160"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3A4756"/>
                </a:solidFill>
                <a:latin typeface="Arial" pitchFamily="34" charset="0"/>
                <a:ea typeface="Arial" pitchFamily="34" charset="-122"/>
                <a:cs typeface="Arial" pitchFamily="34" charset="-120"/>
              </a:rPr>
              <a:t>HOLD vs STOP.</a:t>
            </a:r>
            <a:r>
              <a:rPr lang="en-US" sz="1500" dirty="0">
                <a:solidFill>
                  <a:srgbClr val="3A4756"/>
                </a:solidFill>
                <a:latin typeface="Arial" pitchFamily="34" charset="0"/>
                <a:ea typeface="Arial" pitchFamily="34" charset="-122"/>
                <a:cs typeface="Arial" pitchFamily="34" charset="-120"/>
              </a:rPr>
              <a:t> Compare precision by response type.</a:t>
            </a:r>
            <a:endParaRPr lang="en-US" sz="1500" dirty="0"/>
          </a:p>
        </p:txBody>
      </p:sp>
      <p:sp>
        <p:nvSpPr>
          <p:cNvPr id="9" name="Shape 7"/>
          <p:cNvSpPr/>
          <p:nvPr/>
        </p:nvSpPr>
        <p:spPr>
          <a:xfrm>
            <a:off x="6248400" y="2290961"/>
            <a:ext cx="5130800" cy="3855839"/>
          </a:xfrm>
          <a:prstGeom prst="rect">
            <a:avLst/>
          </a:prstGeom>
          <a:solidFill>
            <a:srgbClr val="FFFFFF"/>
          </a:solidFill>
          <a:ln/>
        </p:spPr>
      </p:sp>
      <p:sp>
        <p:nvSpPr>
          <p:cNvPr id="10" name="Text 8"/>
          <p:cNvSpPr/>
          <p:nvPr/>
        </p:nvSpPr>
        <p:spPr>
          <a:xfrm>
            <a:off x="6527800" y="2570361"/>
            <a:ext cx="470916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02E"/>
                </a:solidFill>
                <a:latin typeface="Arial" pitchFamily="34" charset="0"/>
                <a:ea typeface="Arial" pitchFamily="34" charset="-122"/>
                <a:cs typeface="Arial" pitchFamily="34" charset="-120"/>
              </a:rPr>
              <a:t>Stability</a:t>
            </a:r>
            <a:endParaRPr lang="en-US" sz="1800" dirty="0"/>
          </a:p>
        </p:txBody>
      </p:sp>
      <p:sp>
        <p:nvSpPr>
          <p:cNvPr id="11" name="Text 9"/>
          <p:cNvSpPr/>
          <p:nvPr/>
        </p:nvSpPr>
        <p:spPr>
          <a:xfrm>
            <a:off x="6527800" y="2971651"/>
            <a:ext cx="4709160" cy="8255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3A4756"/>
                </a:solidFill>
                <a:latin typeface="Arial" pitchFamily="34" charset="0"/>
                <a:ea typeface="Arial" pitchFamily="34" charset="-122"/>
                <a:cs typeface="Arial" pitchFamily="34" charset="-120"/>
              </a:rPr>
              <a:t>Volume.</a:t>
            </a:r>
            <a:r>
              <a:rPr lang="en-US" sz="1500" dirty="0">
                <a:solidFill>
                  <a:srgbClr val="3A4756"/>
                </a:solidFill>
                <a:latin typeface="Arial" pitchFamily="34" charset="0"/>
                <a:ea typeface="Arial" pitchFamily="34" charset="-122"/>
                <a:cs typeface="Arial" pitchFamily="34" charset="-120"/>
              </a:rPr>
              <a:t> Mean, standard deviation and coefficient of variation of monthly alerts, against a Poisson benchmark.</a:t>
            </a:r>
            <a:endParaRPr lang="en-US" sz="1500" dirty="0"/>
          </a:p>
        </p:txBody>
      </p:sp>
      <p:sp>
        <p:nvSpPr>
          <p:cNvPr id="12" name="Text 10"/>
          <p:cNvSpPr/>
          <p:nvPr/>
        </p:nvSpPr>
        <p:spPr>
          <a:xfrm>
            <a:off x="6527800" y="3898751"/>
            <a:ext cx="4709160"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3A4756"/>
                </a:solidFill>
                <a:latin typeface="Arial" pitchFamily="34" charset="0"/>
                <a:ea typeface="Arial" pitchFamily="34" charset="-122"/>
                <a:cs typeface="Arial" pitchFamily="34" charset="-120"/>
              </a:rPr>
              <a:t>Spikes.</a:t>
            </a:r>
            <a:r>
              <a:rPr lang="en-US" sz="1500" dirty="0">
                <a:solidFill>
                  <a:srgbClr val="3A4756"/>
                </a:solidFill>
                <a:latin typeface="Arial" pitchFamily="34" charset="0"/>
                <a:ea typeface="Arial" pitchFamily="34" charset="-122"/>
                <a:cs typeface="Arial" pitchFamily="34" charset="-120"/>
              </a:rPr>
              <a:t> Flag the latest month when it sits more than 2 standard deviations from the scenario's own history.</a:t>
            </a:r>
            <a:endParaRPr lang="en-US" sz="1500" dirty="0"/>
          </a:p>
        </p:txBody>
      </p:sp>
      <p:sp>
        <p:nvSpPr>
          <p:cNvPr id="13" name="Text 11"/>
          <p:cNvSpPr/>
          <p:nvPr/>
        </p:nvSpPr>
        <p:spPr>
          <a:xfrm>
            <a:off x="6527800" y="4559151"/>
            <a:ext cx="4709160"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3A4756"/>
                </a:solidFill>
                <a:latin typeface="Arial" pitchFamily="34" charset="0"/>
                <a:ea typeface="Arial" pitchFamily="34" charset="-122"/>
                <a:cs typeface="Arial" pitchFamily="34" charset="-120"/>
              </a:rPr>
              <a:t>Back-test.</a:t>
            </a:r>
            <a:r>
              <a:rPr lang="en-US" sz="1500" dirty="0">
                <a:solidFill>
                  <a:srgbClr val="3A4756"/>
                </a:solidFill>
                <a:latin typeface="Arial" pitchFamily="34" charset="0"/>
                <a:ea typeface="Arial" pitchFamily="34" charset="-122"/>
                <a:cs typeface="Arial" pitchFamily="34" charset="-120"/>
              </a:rPr>
              <a:t> Check whether past colours would have anticipated later changes.</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B7A93"/>
                </a:solidFill>
                <a:latin typeface="Arial" pitchFamily="34" charset="0"/>
                <a:ea typeface="Arial" pitchFamily="34" charset="-122"/>
                <a:cs typeface="Arial" pitchFamily="34" charset="-120"/>
              </a:rPr>
              <a:t>PROPOSAL · METRICS</a:t>
            </a:r>
            <a:endParaRPr lang="en-US" sz="1200" dirty="0"/>
          </a:p>
        </p:txBody>
      </p:sp>
      <p:sp>
        <p:nvSpPr>
          <p:cNvPr id="3" name="Text 1"/>
          <p:cNvSpPr/>
          <p:nvPr>
            <p:ph type="title"/>
          </p:nvPr>
        </p:nvSpPr>
        <p:spPr>
          <a:xfrm>
            <a:off x="812800" y="924520"/>
            <a:ext cx="10883392" cy="556220"/>
          </a:xfrm>
          <a:prstGeom prst="rect">
            <a:avLst/>
          </a:prstGeom>
          <a:noFill/>
          <a:ln/>
        </p:spPr>
        <p:txBody>
          <a:bodyPr wrap="square" lIns="0" tIns="0" rIns="0" bIns="0" rtlCol="0" anchor="t">
            <a:normAutofit/>
          </a:bodyPr>
          <a:lstStyle/>
          <a:p>
            <a:pPr algn="l" indent="0" marL="0">
              <a:lnSpc>
                <a:spcPts val="4180"/>
              </a:lnSpc>
              <a:buNone/>
            </a:pPr>
            <a:r>
              <a:rPr lang="en-US" sz="3800" b="0" i="0" dirty="0">
                <a:solidFill>
                  <a:srgbClr val="16202E"/>
                </a:solidFill>
                <a:latin typeface="Georgia" pitchFamily="18" charset="0"/>
                <a:ea typeface="Georgia" pitchFamily="18" charset="-122"/>
                <a:cs typeface="Georgia" pitchFamily="18" charset="-120"/>
              </a:rPr>
              <a:t>Proposed metrics, mapped to each gap</a:t>
            </a:r>
            <a:endParaRPr lang="en-US" sz="3800" dirty="0"/>
          </a:p>
        </p:txBody>
      </p:sp>
      <p:sp>
        <p:nvSpPr>
          <p:cNvPr id="4" name="Shape 2"/>
          <p:cNvSpPr/>
          <p:nvPr/>
        </p:nvSpPr>
        <p:spPr>
          <a:xfrm>
            <a:off x="812800" y="1734741"/>
            <a:ext cx="10566400" cy="4316512"/>
          </a:xfrm>
          <a:prstGeom prst="rect">
            <a:avLst/>
          </a:prstGeom>
          <a:solidFill>
            <a:srgbClr val="FFFFFF"/>
          </a:solidFill>
          <a:ln/>
        </p:spPr>
      </p:sp>
      <p:sp>
        <p:nvSpPr>
          <p:cNvPr id="5" name="Shape 3"/>
          <p:cNvSpPr/>
          <p:nvPr/>
        </p:nvSpPr>
        <p:spPr>
          <a:xfrm>
            <a:off x="812800" y="1734741"/>
            <a:ext cx="10566400" cy="494010"/>
          </a:xfrm>
          <a:prstGeom prst="rect">
            <a:avLst/>
          </a:prstGeom>
          <a:solidFill>
            <a:srgbClr val="16202E"/>
          </a:solidFill>
          <a:ln/>
        </p:spPr>
      </p:sp>
      <p:sp>
        <p:nvSpPr>
          <p:cNvPr id="6" name="Text 4"/>
          <p:cNvSpPr/>
          <p:nvPr/>
        </p:nvSpPr>
        <p:spPr>
          <a:xfrm>
            <a:off x="1016000" y="1861741"/>
            <a:ext cx="2616200" cy="26541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F2F5F8"/>
                </a:solidFill>
                <a:latin typeface="Arial" pitchFamily="34" charset="0"/>
                <a:ea typeface="Arial" pitchFamily="34" charset="-122"/>
                <a:cs typeface="Arial" pitchFamily="34" charset="-120"/>
              </a:rPr>
              <a:t>Gap</a:t>
            </a:r>
            <a:endParaRPr lang="en-US" sz="1400" dirty="0"/>
          </a:p>
        </p:txBody>
      </p:sp>
      <p:sp>
        <p:nvSpPr>
          <p:cNvPr id="7" name="Text 5"/>
          <p:cNvSpPr/>
          <p:nvPr/>
        </p:nvSpPr>
        <p:spPr>
          <a:xfrm>
            <a:off x="3556000" y="1861741"/>
            <a:ext cx="3924300" cy="26541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F2F5F8"/>
                </a:solidFill>
                <a:latin typeface="Arial" pitchFamily="34" charset="0"/>
                <a:ea typeface="Arial" pitchFamily="34" charset="-122"/>
                <a:cs typeface="Arial" pitchFamily="34" charset="-120"/>
              </a:rPr>
              <a:t>Metric to add</a:t>
            </a:r>
            <a:endParaRPr lang="en-US" sz="1400" dirty="0"/>
          </a:p>
        </p:txBody>
      </p:sp>
      <p:sp>
        <p:nvSpPr>
          <p:cNvPr id="8" name="Text 6"/>
          <p:cNvSpPr/>
          <p:nvPr/>
        </p:nvSpPr>
        <p:spPr>
          <a:xfrm>
            <a:off x="7366000" y="1861741"/>
            <a:ext cx="3924300" cy="26541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F2F5F8"/>
                </a:solidFill>
                <a:latin typeface="Arial" pitchFamily="34" charset="0"/>
                <a:ea typeface="Arial" pitchFamily="34" charset="-122"/>
                <a:cs typeface="Arial" pitchFamily="34" charset="-120"/>
              </a:rPr>
              <a:t>Needs from owners</a:t>
            </a:r>
            <a:endParaRPr lang="en-US" sz="1400" dirty="0"/>
          </a:p>
        </p:txBody>
      </p:sp>
      <p:sp>
        <p:nvSpPr>
          <p:cNvPr id="9" name="Shape 7"/>
          <p:cNvSpPr/>
          <p:nvPr/>
        </p:nvSpPr>
        <p:spPr>
          <a:xfrm>
            <a:off x="812800" y="2991346"/>
            <a:ext cx="10566400" cy="0"/>
          </a:xfrm>
          <a:prstGeom prst="line">
            <a:avLst/>
          </a:prstGeom>
          <a:noFill/>
          <a:ln w="6350">
            <a:solidFill>
              <a:srgbClr val="E2DED3"/>
            </a:solidFill>
            <a:prstDash val="solid"/>
          </a:ln>
        </p:spPr>
      </p:sp>
      <p:sp>
        <p:nvSpPr>
          <p:cNvPr id="10" name="Text 8"/>
          <p:cNvSpPr/>
          <p:nvPr/>
        </p:nvSpPr>
        <p:spPr>
          <a:xfrm>
            <a:off x="3556000" y="2368451"/>
            <a:ext cx="3924300"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6202E"/>
                </a:solidFill>
                <a:latin typeface="Arial" pitchFamily="34" charset="0"/>
                <a:ea typeface="Arial" pitchFamily="34" charset="-122"/>
                <a:cs typeface="Arial" pitchFamily="34" charset="-120"/>
              </a:rPr>
              <a:t>FP rate over total payments screened; alerts per TP</a:t>
            </a:r>
            <a:endParaRPr lang="en-US" sz="1400" dirty="0"/>
          </a:p>
        </p:txBody>
      </p:sp>
      <p:sp>
        <p:nvSpPr>
          <p:cNvPr id="11" name="Text 9"/>
          <p:cNvSpPr/>
          <p:nvPr/>
        </p:nvSpPr>
        <p:spPr>
          <a:xfrm>
            <a:off x="7366000" y="2368451"/>
            <a:ext cx="392430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6202E"/>
                </a:solidFill>
                <a:latin typeface="Arial" pitchFamily="34" charset="0"/>
                <a:ea typeface="Arial" pitchFamily="34" charset="-122"/>
                <a:cs typeface="Arial" pitchFamily="34" charset="-120"/>
              </a:rPr>
              <a:t>Total payments screened per month</a:t>
            </a:r>
            <a:endParaRPr lang="en-US" sz="1400" dirty="0"/>
          </a:p>
        </p:txBody>
      </p:sp>
      <p:sp>
        <p:nvSpPr>
          <p:cNvPr id="12" name="Shape 10"/>
          <p:cNvSpPr/>
          <p:nvPr/>
        </p:nvSpPr>
        <p:spPr>
          <a:xfrm>
            <a:off x="812800" y="3757116"/>
            <a:ext cx="10566400" cy="0"/>
          </a:xfrm>
          <a:prstGeom prst="line">
            <a:avLst/>
          </a:prstGeom>
          <a:noFill/>
          <a:ln w="6350">
            <a:solidFill>
              <a:srgbClr val="E2DED3"/>
            </a:solidFill>
            <a:prstDash val="solid"/>
          </a:ln>
        </p:spPr>
      </p:sp>
      <p:sp>
        <p:nvSpPr>
          <p:cNvPr id="13" name="Text 11"/>
          <p:cNvSpPr/>
          <p:nvPr/>
        </p:nvSpPr>
        <p:spPr>
          <a:xfrm>
            <a:off x="3556000" y="3134221"/>
            <a:ext cx="3924300"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6202E"/>
                </a:solidFill>
                <a:latin typeface="Arial" pitchFamily="34" charset="0"/>
                <a:ea typeface="Arial" pitchFamily="34" charset="-122"/>
                <a:cs typeface="Arial" pitchFamily="34" charset="-120"/>
              </a:rPr>
              <a:t>Precision by month index; lag index (3M vs Prior 3M)</a:t>
            </a:r>
            <a:endParaRPr lang="en-US" sz="1400" dirty="0"/>
          </a:p>
        </p:txBody>
      </p:sp>
      <p:sp>
        <p:nvSpPr>
          <p:cNvPr id="14" name="Text 12"/>
          <p:cNvSpPr/>
          <p:nvPr/>
        </p:nvSpPr>
        <p:spPr>
          <a:xfrm>
            <a:off x="7366000" y="3134221"/>
            <a:ext cx="392430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6202E"/>
                </a:solidFill>
                <a:latin typeface="Arial" pitchFamily="34" charset="0"/>
                <a:ea typeface="Arial" pitchFamily="34" charset="-122"/>
                <a:cs typeface="Arial" pitchFamily="34" charset="-120"/>
              </a:rPr>
              <a:t>Typical time to confirm fraud</a:t>
            </a:r>
            <a:endParaRPr lang="en-US" sz="1400" dirty="0"/>
          </a:p>
        </p:txBody>
      </p:sp>
      <p:sp>
        <p:nvSpPr>
          <p:cNvPr id="15" name="Shape 13"/>
          <p:cNvSpPr/>
          <p:nvPr/>
        </p:nvSpPr>
        <p:spPr>
          <a:xfrm>
            <a:off x="812800" y="4522887"/>
            <a:ext cx="10566400" cy="0"/>
          </a:xfrm>
          <a:prstGeom prst="line">
            <a:avLst/>
          </a:prstGeom>
          <a:noFill/>
          <a:ln w="6350">
            <a:solidFill>
              <a:srgbClr val="E2DED3"/>
            </a:solidFill>
            <a:prstDash val="solid"/>
          </a:ln>
        </p:spPr>
      </p:sp>
      <p:sp>
        <p:nvSpPr>
          <p:cNvPr id="16" name="Text 14"/>
          <p:cNvSpPr/>
          <p:nvPr/>
        </p:nvSpPr>
        <p:spPr>
          <a:xfrm>
            <a:off x="3556000" y="3899991"/>
            <a:ext cx="3924300"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6202E"/>
                </a:solidFill>
                <a:latin typeface="Arial" pitchFamily="34" charset="0"/>
                <a:ea typeface="Arial" pitchFamily="34" charset="-122"/>
                <a:cs typeface="Arial" pitchFamily="34" charset="-120"/>
              </a:rPr>
              <a:t>Count and TP/FP mix of NULL rows, reported every cycle</a:t>
            </a:r>
            <a:endParaRPr lang="en-US" sz="1400" dirty="0"/>
          </a:p>
        </p:txBody>
      </p:sp>
      <p:sp>
        <p:nvSpPr>
          <p:cNvPr id="17" name="Text 15"/>
          <p:cNvSpPr/>
          <p:nvPr/>
        </p:nvSpPr>
        <p:spPr>
          <a:xfrm>
            <a:off x="7366000" y="3899991"/>
            <a:ext cx="392430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6202E"/>
                </a:solidFill>
                <a:latin typeface="Arial" pitchFamily="34" charset="0"/>
                <a:ea typeface="Arial" pitchFamily="34" charset="-122"/>
                <a:cs typeface="Arial" pitchFamily="34" charset="-120"/>
              </a:rPr>
              <a:t>SQL logic for 3M and 6M tabs</a:t>
            </a:r>
            <a:endParaRPr lang="en-US" sz="1400" dirty="0"/>
          </a:p>
        </p:txBody>
      </p:sp>
      <p:sp>
        <p:nvSpPr>
          <p:cNvPr id="18" name="Shape 16"/>
          <p:cNvSpPr/>
          <p:nvPr/>
        </p:nvSpPr>
        <p:spPr>
          <a:xfrm>
            <a:off x="812800" y="5288657"/>
            <a:ext cx="10566400" cy="0"/>
          </a:xfrm>
          <a:prstGeom prst="line">
            <a:avLst/>
          </a:prstGeom>
          <a:noFill/>
          <a:ln w="6350">
            <a:solidFill>
              <a:srgbClr val="E2DED3"/>
            </a:solidFill>
            <a:prstDash val="solid"/>
          </a:ln>
        </p:spPr>
      </p:sp>
      <p:sp>
        <p:nvSpPr>
          <p:cNvPr id="19" name="Text 17"/>
          <p:cNvSpPr/>
          <p:nvPr/>
        </p:nvSpPr>
        <p:spPr>
          <a:xfrm>
            <a:off x="3556000" y="4665762"/>
            <a:ext cx="3924300"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6202E"/>
                </a:solidFill>
                <a:latin typeface="Arial" pitchFamily="34" charset="0"/>
                <a:ea typeface="Arial" pitchFamily="34" charset="-122"/>
                <a:cs typeface="Arial" pitchFamily="34" charset="-120"/>
              </a:rPr>
              <a:t>Detection proxy from confirmed fraud found outside ROVA</a:t>
            </a:r>
            <a:endParaRPr lang="en-US" sz="1400" dirty="0"/>
          </a:p>
        </p:txBody>
      </p:sp>
      <p:sp>
        <p:nvSpPr>
          <p:cNvPr id="20" name="Text 18"/>
          <p:cNvSpPr/>
          <p:nvPr/>
        </p:nvSpPr>
        <p:spPr>
          <a:xfrm>
            <a:off x="7366000" y="4665762"/>
            <a:ext cx="392430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6202E"/>
                </a:solidFill>
                <a:latin typeface="Arial" pitchFamily="34" charset="0"/>
                <a:ea typeface="Arial" pitchFamily="34" charset="-122"/>
                <a:cs typeface="Arial" pitchFamily="34" charset="-120"/>
              </a:rPr>
              <a:t>A source of confirmed fraud not alerted</a:t>
            </a:r>
            <a:endParaRPr lang="en-US" sz="1400" dirty="0"/>
          </a:p>
        </p:txBody>
      </p:sp>
      <p:sp>
        <p:nvSpPr>
          <p:cNvPr id="21" name="Text 19"/>
          <p:cNvSpPr/>
          <p:nvPr/>
        </p:nvSpPr>
        <p:spPr>
          <a:xfrm>
            <a:off x="3556000" y="5431532"/>
            <a:ext cx="3924300"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6202E"/>
                </a:solidFill>
                <a:latin typeface="Arial" pitchFamily="34" charset="0"/>
                <a:ea typeface="Arial" pitchFamily="34" charset="-122"/>
                <a:cs typeface="Arial" pitchFamily="34" charset="-120"/>
              </a:rPr>
              <a:t>Wilson intervals, z-test or Fisher test, minimum evidence rule</a:t>
            </a:r>
            <a:endParaRPr lang="en-US" sz="1400" dirty="0"/>
          </a:p>
        </p:txBody>
      </p:sp>
      <p:sp>
        <p:nvSpPr>
          <p:cNvPr id="22" name="Text 20"/>
          <p:cNvSpPr/>
          <p:nvPr/>
        </p:nvSpPr>
        <p:spPr>
          <a:xfrm>
            <a:off x="7366000" y="5431532"/>
            <a:ext cx="392430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6202E"/>
                </a:solidFill>
                <a:latin typeface="Arial" pitchFamily="34" charset="0"/>
                <a:ea typeface="Arial" pitchFamily="34" charset="-122"/>
                <a:cs typeface="Arial" pitchFamily="34" charset="-120"/>
              </a:rPr>
              <a:t>Agreement on cut-offs and thresholds</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B7A93"/>
                </a:solidFill>
                <a:latin typeface="Arial" pitchFamily="34" charset="0"/>
                <a:ea typeface="Arial" pitchFamily="34" charset="-122"/>
                <a:cs typeface="Arial" pitchFamily="34" charset="-120"/>
              </a:rPr>
              <a:t>PROPOSAL · MONITORING DESIGN</a:t>
            </a:r>
            <a:endParaRPr lang="en-US" sz="1200" dirty="0"/>
          </a:p>
        </p:txBody>
      </p:sp>
      <p:sp>
        <p:nvSpPr>
          <p:cNvPr id="3" name="Text 1"/>
          <p:cNvSpPr/>
          <p:nvPr>
            <p:ph type="title"/>
          </p:nvPr>
        </p:nvSpPr>
        <p:spPr>
          <a:xfrm>
            <a:off x="812800" y="924520"/>
            <a:ext cx="10883392" cy="1087041"/>
          </a:xfrm>
          <a:prstGeom prst="rect">
            <a:avLst/>
          </a:prstGeom>
          <a:noFill/>
          <a:ln/>
        </p:spPr>
        <p:txBody>
          <a:bodyPr wrap="square" lIns="0" tIns="0" rIns="0" bIns="0" rtlCol="0" anchor="t">
            <a:normAutofit/>
          </a:bodyPr>
          <a:lstStyle/>
          <a:p>
            <a:pPr algn="l" indent="0" marL="0">
              <a:lnSpc>
                <a:spcPts val="4180"/>
              </a:lnSpc>
              <a:buNone/>
            </a:pPr>
            <a:r>
              <a:rPr lang="en-US" sz="3800" b="0" i="0" dirty="0">
                <a:solidFill>
                  <a:srgbClr val="16202E"/>
                </a:solidFill>
                <a:latin typeface="Georgia" pitchFamily="18" charset="0"/>
                <a:ea typeface="Georgia" pitchFamily="18" charset="-122"/>
                <a:cs typeface="Georgia" pitchFamily="18" charset="-120"/>
              </a:rPr>
              <a:t>Make the colours rule-based, evidence-aware and documented</a:t>
            </a:r>
            <a:endParaRPr lang="en-US" sz="3800" dirty="0"/>
          </a:p>
        </p:txBody>
      </p:sp>
      <p:sp>
        <p:nvSpPr>
          <p:cNvPr id="4" name="Shape 2"/>
          <p:cNvSpPr/>
          <p:nvPr/>
        </p:nvSpPr>
        <p:spPr>
          <a:xfrm>
            <a:off x="812800" y="2290961"/>
            <a:ext cx="3352800" cy="3284339"/>
          </a:xfrm>
          <a:prstGeom prst="rect">
            <a:avLst/>
          </a:prstGeom>
          <a:solidFill>
            <a:srgbClr val="FFFFFF"/>
          </a:solidFill>
          <a:ln/>
        </p:spPr>
      </p:sp>
      <p:sp>
        <p:nvSpPr>
          <p:cNvPr id="5" name="Shape 3"/>
          <p:cNvSpPr/>
          <p:nvPr/>
        </p:nvSpPr>
        <p:spPr>
          <a:xfrm>
            <a:off x="812800" y="2310011"/>
            <a:ext cx="3352800" cy="0"/>
          </a:xfrm>
          <a:prstGeom prst="line">
            <a:avLst/>
          </a:prstGeom>
          <a:noFill/>
          <a:ln w="38100">
            <a:solidFill>
              <a:srgbClr val="2B7A93"/>
            </a:solidFill>
            <a:prstDash val="solid"/>
          </a:ln>
        </p:spPr>
      </p:sp>
      <p:sp>
        <p:nvSpPr>
          <p:cNvPr id="6" name="Text 4"/>
          <p:cNvSpPr/>
          <p:nvPr/>
        </p:nvSpPr>
        <p:spPr>
          <a:xfrm>
            <a:off x="1066800" y="2583061"/>
            <a:ext cx="2930144"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02E"/>
                </a:solidFill>
                <a:latin typeface="Arial" pitchFamily="34" charset="0"/>
                <a:ea typeface="Arial" pitchFamily="34" charset="-122"/>
                <a:cs typeface="Arial" pitchFamily="34" charset="-120"/>
              </a:rPr>
              <a:t>Document thresholds</a:t>
            </a:r>
            <a:endParaRPr lang="en-US" sz="1800" dirty="0"/>
          </a:p>
        </p:txBody>
      </p:sp>
      <p:sp>
        <p:nvSpPr>
          <p:cNvPr id="7" name="Text 5"/>
          <p:cNvSpPr/>
          <p:nvPr/>
        </p:nvSpPr>
        <p:spPr>
          <a:xfrm>
            <a:off x="1066800" y="2857351"/>
            <a:ext cx="2930144"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4756"/>
                </a:solidFill>
                <a:latin typeface="Arial" pitchFamily="34" charset="0"/>
                <a:ea typeface="Arial" pitchFamily="34" charset="-122"/>
                <a:cs typeface="Arial" pitchFamily="34" charset="-120"/>
              </a:rPr>
              <a:t>Write down the bands behind each colour, who set them and when they are reviewed.</a:t>
            </a:r>
            <a:endParaRPr lang="en-US" sz="1500" dirty="0"/>
          </a:p>
        </p:txBody>
      </p:sp>
      <p:sp>
        <p:nvSpPr>
          <p:cNvPr id="8" name="Shape 6"/>
          <p:cNvSpPr/>
          <p:nvPr/>
        </p:nvSpPr>
        <p:spPr>
          <a:xfrm>
            <a:off x="4419600" y="2290961"/>
            <a:ext cx="3352800" cy="3284339"/>
          </a:xfrm>
          <a:prstGeom prst="rect">
            <a:avLst/>
          </a:prstGeom>
          <a:solidFill>
            <a:srgbClr val="FFFFFF"/>
          </a:solidFill>
          <a:ln/>
        </p:spPr>
      </p:sp>
      <p:sp>
        <p:nvSpPr>
          <p:cNvPr id="9" name="Shape 7"/>
          <p:cNvSpPr/>
          <p:nvPr/>
        </p:nvSpPr>
        <p:spPr>
          <a:xfrm>
            <a:off x="4419600" y="2310011"/>
            <a:ext cx="3352800" cy="0"/>
          </a:xfrm>
          <a:prstGeom prst="line">
            <a:avLst/>
          </a:prstGeom>
          <a:noFill/>
          <a:ln w="38100">
            <a:solidFill>
              <a:srgbClr val="2B7A93"/>
            </a:solidFill>
            <a:prstDash val="solid"/>
          </a:ln>
        </p:spPr>
      </p:sp>
      <p:sp>
        <p:nvSpPr>
          <p:cNvPr id="10" name="Text 8"/>
          <p:cNvSpPr/>
          <p:nvPr/>
        </p:nvSpPr>
        <p:spPr>
          <a:xfrm>
            <a:off x="4673600" y="2583061"/>
            <a:ext cx="2930144"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02E"/>
                </a:solidFill>
                <a:latin typeface="Arial" pitchFamily="34" charset="0"/>
                <a:ea typeface="Arial" pitchFamily="34" charset="-122"/>
                <a:cs typeface="Arial" pitchFamily="34" charset="-120"/>
              </a:rPr>
              <a:t>Show the evidence</a:t>
            </a:r>
            <a:endParaRPr lang="en-US" sz="1800" dirty="0"/>
          </a:p>
        </p:txBody>
      </p:sp>
      <p:sp>
        <p:nvSpPr>
          <p:cNvPr id="11" name="Text 9"/>
          <p:cNvSpPr/>
          <p:nvPr/>
        </p:nvSpPr>
        <p:spPr>
          <a:xfrm>
            <a:off x="4673600" y="2857351"/>
            <a:ext cx="2930144"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4756"/>
                </a:solidFill>
                <a:latin typeface="Arial" pitchFamily="34" charset="0"/>
                <a:ea typeface="Arial" pitchFamily="34" charset="-122"/>
                <a:cs typeface="Arial" pitchFamily="34" charset="-120"/>
              </a:rPr>
              <a:t>Report alerts, TPs and the interval next to each ratio. Grey out scenarios below the minimum evidence rule.</a:t>
            </a:r>
            <a:endParaRPr lang="en-US" sz="1500" dirty="0"/>
          </a:p>
        </p:txBody>
      </p:sp>
      <p:sp>
        <p:nvSpPr>
          <p:cNvPr id="12" name="Shape 10"/>
          <p:cNvSpPr/>
          <p:nvPr/>
        </p:nvSpPr>
        <p:spPr>
          <a:xfrm>
            <a:off x="8026400" y="2290961"/>
            <a:ext cx="3352800" cy="3284339"/>
          </a:xfrm>
          <a:prstGeom prst="rect">
            <a:avLst/>
          </a:prstGeom>
          <a:solidFill>
            <a:srgbClr val="FFFFFF"/>
          </a:solidFill>
          <a:ln/>
        </p:spPr>
      </p:sp>
      <p:sp>
        <p:nvSpPr>
          <p:cNvPr id="13" name="Shape 11"/>
          <p:cNvSpPr/>
          <p:nvPr/>
        </p:nvSpPr>
        <p:spPr>
          <a:xfrm>
            <a:off x="8026400" y="2310011"/>
            <a:ext cx="3352800" cy="0"/>
          </a:xfrm>
          <a:prstGeom prst="line">
            <a:avLst/>
          </a:prstGeom>
          <a:noFill/>
          <a:ln w="38100">
            <a:solidFill>
              <a:srgbClr val="2B7A93"/>
            </a:solidFill>
            <a:prstDash val="solid"/>
          </a:ln>
        </p:spPr>
      </p:sp>
      <p:sp>
        <p:nvSpPr>
          <p:cNvPr id="14" name="Text 12"/>
          <p:cNvSpPr/>
          <p:nvPr/>
        </p:nvSpPr>
        <p:spPr>
          <a:xfrm>
            <a:off x="8280400" y="2583061"/>
            <a:ext cx="2930144"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02E"/>
                </a:solidFill>
                <a:latin typeface="Arial" pitchFamily="34" charset="0"/>
                <a:ea typeface="Arial" pitchFamily="34" charset="-122"/>
                <a:cs typeface="Arial" pitchFamily="34" charset="-120"/>
              </a:rPr>
              <a:t>Define the action</a:t>
            </a:r>
            <a:endParaRPr lang="en-US" sz="1800" dirty="0"/>
          </a:p>
        </p:txBody>
      </p:sp>
      <p:sp>
        <p:nvSpPr>
          <p:cNvPr id="15" name="Text 13"/>
          <p:cNvSpPr/>
          <p:nvPr/>
        </p:nvSpPr>
        <p:spPr>
          <a:xfrm>
            <a:off x="8280400" y="2857351"/>
            <a:ext cx="2930144"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4756"/>
                </a:solidFill>
                <a:latin typeface="Arial" pitchFamily="34" charset="0"/>
                <a:ea typeface="Arial" pitchFamily="34" charset="-122"/>
                <a:cs typeface="Arial" pitchFamily="34" charset="-120"/>
              </a:rPr>
              <a:t>State what happens when a scenario turns red or amber, and link it to the change process.</a:t>
            </a:r>
            <a:endParaRPr lang="en-US" sz="1500" dirty="0"/>
          </a:p>
        </p:txBody>
      </p:sp>
      <p:sp>
        <p:nvSpPr>
          <p:cNvPr id="16" name="Shape 14"/>
          <p:cNvSpPr/>
          <p:nvPr/>
        </p:nvSpPr>
        <p:spPr>
          <a:xfrm>
            <a:off x="831850" y="5880100"/>
            <a:ext cx="0" cy="266700"/>
          </a:xfrm>
          <a:prstGeom prst="line">
            <a:avLst/>
          </a:prstGeom>
          <a:noFill/>
          <a:ln w="38100">
            <a:solidFill>
              <a:srgbClr val="2B7A93"/>
            </a:solidFill>
            <a:prstDash val="solid"/>
          </a:ln>
        </p:spPr>
      </p:sp>
      <p:sp>
        <p:nvSpPr>
          <p:cNvPr id="17" name="Text 15"/>
          <p:cNvSpPr/>
          <p:nvPr/>
        </p:nvSpPr>
        <p:spPr>
          <a:xfrm>
            <a:off x="1028700" y="5880100"/>
            <a:ext cx="10661015"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6202E"/>
                </a:solidFill>
                <a:latin typeface="Arial" pitchFamily="34" charset="0"/>
                <a:ea typeface="Arial" pitchFamily="34" charset="-122"/>
                <a:cs typeface="Arial" pitchFamily="34" charset="-120"/>
              </a:rPr>
              <a:t>If weekly data exists, control charts or CUSUM would detect a shift sooner than a bi-weekly colour.</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6202E"/>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7FC1D6"/>
                </a:solidFill>
                <a:latin typeface="Arial" pitchFamily="34" charset="0"/>
                <a:ea typeface="Arial" pitchFamily="34" charset="-122"/>
                <a:cs typeface="Arial" pitchFamily="34" charset="-120"/>
              </a:rPr>
              <a:t>NEXT STEPS</a:t>
            </a:r>
            <a:endParaRPr lang="en-US" sz="1200" dirty="0"/>
          </a:p>
        </p:txBody>
      </p:sp>
      <p:sp>
        <p:nvSpPr>
          <p:cNvPr id="3" name="Text 1"/>
          <p:cNvSpPr/>
          <p:nvPr>
            <p:ph type="title"/>
          </p:nvPr>
        </p:nvSpPr>
        <p:spPr>
          <a:xfrm>
            <a:off x="812800" y="924520"/>
            <a:ext cx="10883392" cy="556220"/>
          </a:xfrm>
          <a:prstGeom prst="rect">
            <a:avLst/>
          </a:prstGeom>
          <a:noFill/>
          <a:ln/>
        </p:spPr>
        <p:txBody>
          <a:bodyPr wrap="square" lIns="0" tIns="0" rIns="0" bIns="0" rtlCol="0" anchor="t">
            <a:normAutofit/>
          </a:bodyPr>
          <a:lstStyle/>
          <a:p>
            <a:pPr algn="l" indent="0" marL="0">
              <a:lnSpc>
                <a:spcPts val="4180"/>
              </a:lnSpc>
              <a:buNone/>
            </a:pPr>
            <a:r>
              <a:rPr lang="en-US" sz="3800" b="0" i="0" dirty="0">
                <a:solidFill>
                  <a:srgbClr val="F2F5F8"/>
                </a:solidFill>
                <a:latin typeface="Georgia" pitchFamily="18" charset="0"/>
                <a:ea typeface="Georgia" pitchFamily="18" charset="-122"/>
                <a:cs typeface="Georgia" pitchFamily="18" charset="-120"/>
              </a:rPr>
              <a:t>What we need from you to finish the challenge</a:t>
            </a:r>
            <a:endParaRPr lang="en-US" sz="3800" dirty="0"/>
          </a:p>
        </p:txBody>
      </p:sp>
      <p:sp>
        <p:nvSpPr>
          <p:cNvPr id="4" name="Shape 2"/>
          <p:cNvSpPr/>
          <p:nvPr/>
        </p:nvSpPr>
        <p:spPr>
          <a:xfrm>
            <a:off x="812800" y="1760141"/>
            <a:ext cx="5130800" cy="4386659"/>
          </a:xfrm>
          <a:prstGeom prst="rect">
            <a:avLst/>
          </a:prstGeom>
          <a:solidFill>
            <a:srgbClr val="1F2D40"/>
          </a:solidFill>
          <a:ln/>
        </p:spPr>
      </p:sp>
      <p:sp>
        <p:nvSpPr>
          <p:cNvPr id="5" name="Text 3"/>
          <p:cNvSpPr/>
          <p:nvPr/>
        </p:nvSpPr>
        <p:spPr>
          <a:xfrm>
            <a:off x="1092200" y="2039541"/>
            <a:ext cx="470916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7FC1D6"/>
                </a:solidFill>
                <a:latin typeface="Arial" pitchFamily="34" charset="0"/>
                <a:ea typeface="Arial" pitchFamily="34" charset="-122"/>
                <a:cs typeface="Arial" pitchFamily="34" charset="-120"/>
              </a:rPr>
              <a:t>Questions to confirm</a:t>
            </a:r>
            <a:endParaRPr lang="en-US" sz="1800" dirty="0"/>
          </a:p>
        </p:txBody>
      </p:sp>
      <p:sp>
        <p:nvSpPr>
          <p:cNvPr id="6" name="Text 4"/>
          <p:cNvSpPr/>
          <p:nvPr/>
        </p:nvSpPr>
        <p:spPr>
          <a:xfrm>
            <a:off x="1092200" y="2313831"/>
            <a:ext cx="4709160"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E8EDF3"/>
                </a:solidFill>
                <a:latin typeface="Arial" pitchFamily="34" charset="0"/>
                <a:ea typeface="Arial" pitchFamily="34" charset="-122"/>
                <a:cs typeface="Arial" pitchFamily="34" charset="-120"/>
              </a:rPr>
              <a:t>Is volume the number of alerts or of payments?</a:t>
            </a:r>
            <a:endParaRPr lang="en-US" sz="1500" dirty="0"/>
          </a:p>
        </p:txBody>
      </p:sp>
      <p:sp>
        <p:nvSpPr>
          <p:cNvPr id="7" name="Text 5"/>
          <p:cNvSpPr/>
          <p:nvPr/>
        </p:nvSpPr>
        <p:spPr>
          <a:xfrm>
            <a:off x="1092200" y="2590056"/>
            <a:ext cx="4709160"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E8EDF3"/>
                </a:solidFill>
                <a:latin typeface="Arial" pitchFamily="34" charset="0"/>
                <a:ea typeface="Arial" pitchFamily="34" charset="-122"/>
                <a:cs typeface="Arial" pitchFamily="34" charset="-120"/>
              </a:rPr>
              <a:t>Do the 3M and 6M tabs use the same SQL logic?</a:t>
            </a:r>
            <a:endParaRPr lang="en-US" sz="1500" dirty="0"/>
          </a:p>
        </p:txBody>
      </p:sp>
      <p:sp>
        <p:nvSpPr>
          <p:cNvPr id="8" name="Text 6"/>
          <p:cNvSpPr/>
          <p:nvPr/>
        </p:nvSpPr>
        <p:spPr>
          <a:xfrm>
            <a:off x="1092200" y="2866281"/>
            <a:ext cx="4709160"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E8EDF3"/>
                </a:solidFill>
                <a:latin typeface="Arial" pitchFamily="34" charset="0"/>
                <a:ea typeface="Arial" pitchFamily="34" charset="-122"/>
                <a:cs typeface="Arial" pitchFamily="34" charset="-120"/>
              </a:rPr>
              <a:t>What are the colour cut-offs, if any?</a:t>
            </a:r>
            <a:endParaRPr lang="en-US" sz="1500" dirty="0"/>
          </a:p>
        </p:txBody>
      </p:sp>
      <p:sp>
        <p:nvSpPr>
          <p:cNvPr id="9" name="Text 7"/>
          <p:cNvSpPr/>
          <p:nvPr/>
        </p:nvSpPr>
        <p:spPr>
          <a:xfrm>
            <a:off x="1092200" y="3142506"/>
            <a:ext cx="4709160"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E8EDF3"/>
                </a:solidFill>
                <a:latin typeface="Arial" pitchFamily="34" charset="0"/>
                <a:ea typeface="Arial" pitchFamily="34" charset="-122"/>
                <a:cs typeface="Arial" pitchFamily="34" charset="-120"/>
              </a:rPr>
              <a:t>What is the TP and FP mix of the NULL rows?</a:t>
            </a:r>
            <a:endParaRPr lang="en-US" sz="1500" dirty="0"/>
          </a:p>
        </p:txBody>
      </p:sp>
      <p:sp>
        <p:nvSpPr>
          <p:cNvPr id="10" name="Shape 8"/>
          <p:cNvSpPr/>
          <p:nvPr/>
        </p:nvSpPr>
        <p:spPr>
          <a:xfrm>
            <a:off x="6248400" y="1760141"/>
            <a:ext cx="5130800" cy="4386659"/>
          </a:xfrm>
          <a:prstGeom prst="rect">
            <a:avLst/>
          </a:prstGeom>
          <a:solidFill>
            <a:srgbClr val="1F2D40"/>
          </a:solidFill>
          <a:ln/>
        </p:spPr>
      </p:sp>
      <p:sp>
        <p:nvSpPr>
          <p:cNvPr id="11" name="Text 9"/>
          <p:cNvSpPr/>
          <p:nvPr/>
        </p:nvSpPr>
        <p:spPr>
          <a:xfrm>
            <a:off x="6527800" y="2039541"/>
            <a:ext cx="470916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7FC1D6"/>
                </a:solidFill>
                <a:latin typeface="Arial" pitchFamily="34" charset="0"/>
                <a:ea typeface="Arial" pitchFamily="34" charset="-122"/>
                <a:cs typeface="Arial" pitchFamily="34" charset="-120"/>
              </a:rPr>
              <a:t>Data and actions</a:t>
            </a:r>
            <a:endParaRPr lang="en-US" sz="1800" dirty="0"/>
          </a:p>
        </p:txBody>
      </p:sp>
      <p:sp>
        <p:nvSpPr>
          <p:cNvPr id="12" name="Text 10"/>
          <p:cNvSpPr/>
          <p:nvPr/>
        </p:nvSpPr>
        <p:spPr>
          <a:xfrm>
            <a:off x="6527800" y="2313831"/>
            <a:ext cx="4709160"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E8EDF3"/>
                </a:solidFill>
                <a:latin typeface="Arial" pitchFamily="34" charset="0"/>
                <a:ea typeface="Arial" pitchFamily="34" charset="-122"/>
                <a:cs typeface="Arial" pitchFamily="34" charset="-120"/>
              </a:rPr>
              <a:t>Total payments screened per month.</a:t>
            </a:r>
            <a:endParaRPr lang="en-US" sz="1500" dirty="0"/>
          </a:p>
        </p:txBody>
      </p:sp>
      <p:sp>
        <p:nvSpPr>
          <p:cNvPr id="13" name="Text 11"/>
          <p:cNvSpPr/>
          <p:nvPr/>
        </p:nvSpPr>
        <p:spPr>
          <a:xfrm>
            <a:off x="6527800" y="2590056"/>
            <a:ext cx="4709160"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E8EDF3"/>
                </a:solidFill>
                <a:latin typeface="Arial" pitchFamily="34" charset="0"/>
                <a:ea typeface="Arial" pitchFamily="34" charset="-122"/>
                <a:cs typeface="Arial" pitchFamily="34" charset="-120"/>
              </a:rPr>
              <a:t>Typical time to confirm fraud.</a:t>
            </a:r>
            <a:endParaRPr lang="en-US" sz="1500" dirty="0"/>
          </a:p>
        </p:txBody>
      </p:sp>
      <p:sp>
        <p:nvSpPr>
          <p:cNvPr id="14" name="Text 12"/>
          <p:cNvSpPr/>
          <p:nvPr/>
        </p:nvSpPr>
        <p:spPr>
          <a:xfrm>
            <a:off x="6527800" y="2866281"/>
            <a:ext cx="4709160"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E8EDF3"/>
                </a:solidFill>
                <a:latin typeface="Arial" pitchFamily="34" charset="0"/>
                <a:ea typeface="Arial" pitchFamily="34" charset="-122"/>
                <a:cs typeface="Arial" pitchFamily="34" charset="-120"/>
              </a:rPr>
              <a:t>Weekly data, if it exists.</a:t>
            </a:r>
            <a:endParaRPr lang="en-US" sz="1500" dirty="0"/>
          </a:p>
        </p:txBody>
      </p:sp>
      <p:sp>
        <p:nvSpPr>
          <p:cNvPr id="15" name="Text 13"/>
          <p:cNvSpPr/>
          <p:nvPr/>
        </p:nvSpPr>
        <p:spPr>
          <a:xfrm>
            <a:off x="6527800" y="3142506"/>
            <a:ext cx="4709160"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E8EDF3"/>
                </a:solidFill>
                <a:latin typeface="Arial" pitchFamily="34" charset="0"/>
                <a:ea typeface="Arial" pitchFamily="34" charset="-122"/>
                <a:cs typeface="Arial" pitchFamily="34" charset="-120"/>
              </a:rPr>
              <a:t>We then run the full analysis on the complete dataset and share the findings with you.</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B7A93"/>
                </a:solidFill>
                <a:latin typeface="Arial" pitchFamily="34" charset="0"/>
                <a:ea typeface="Arial" pitchFamily="34" charset="-122"/>
                <a:cs typeface="Arial" pitchFamily="34" charset="-120"/>
              </a:rPr>
              <a:t>APPENDIX · DEFINITIONS</a:t>
            </a:r>
            <a:endParaRPr lang="en-US" sz="1200" dirty="0"/>
          </a:p>
        </p:txBody>
      </p:sp>
      <p:sp>
        <p:nvSpPr>
          <p:cNvPr id="3" name="Text 1"/>
          <p:cNvSpPr/>
          <p:nvPr>
            <p:ph type="title"/>
          </p:nvPr>
        </p:nvSpPr>
        <p:spPr>
          <a:xfrm>
            <a:off x="812800" y="924520"/>
            <a:ext cx="10883392" cy="556220"/>
          </a:xfrm>
          <a:prstGeom prst="rect">
            <a:avLst/>
          </a:prstGeom>
          <a:noFill/>
          <a:ln/>
        </p:spPr>
        <p:txBody>
          <a:bodyPr wrap="square" lIns="0" tIns="0" rIns="0" bIns="0" rtlCol="0" anchor="t">
            <a:normAutofit/>
          </a:bodyPr>
          <a:lstStyle/>
          <a:p>
            <a:pPr algn="l" indent="0" marL="0">
              <a:lnSpc>
                <a:spcPts val="4180"/>
              </a:lnSpc>
              <a:buNone/>
            </a:pPr>
            <a:r>
              <a:rPr lang="en-US" sz="3800" b="0" i="0" dirty="0">
                <a:solidFill>
                  <a:srgbClr val="16202E"/>
                </a:solidFill>
                <a:latin typeface="Georgia" pitchFamily="18" charset="0"/>
                <a:ea typeface="Georgia" pitchFamily="18" charset="-122"/>
                <a:cs typeface="Georgia" pitchFamily="18" charset="-120"/>
              </a:rPr>
              <a:t>Definitions and windows used in the analysis</a:t>
            </a:r>
            <a:endParaRPr lang="en-US" sz="3800" dirty="0"/>
          </a:p>
        </p:txBody>
      </p:sp>
      <p:sp>
        <p:nvSpPr>
          <p:cNvPr id="4" name="Shape 2"/>
          <p:cNvSpPr/>
          <p:nvPr/>
        </p:nvSpPr>
        <p:spPr>
          <a:xfrm>
            <a:off x="812800" y="1734741"/>
            <a:ext cx="5130800" cy="4412059"/>
          </a:xfrm>
          <a:prstGeom prst="rect">
            <a:avLst/>
          </a:prstGeom>
          <a:solidFill>
            <a:srgbClr val="FFFFFF"/>
          </a:solidFill>
          <a:ln/>
        </p:spPr>
      </p:sp>
      <p:sp>
        <p:nvSpPr>
          <p:cNvPr id="5" name="Text 3"/>
          <p:cNvSpPr/>
          <p:nvPr/>
        </p:nvSpPr>
        <p:spPr>
          <a:xfrm>
            <a:off x="1066800" y="1988741"/>
            <a:ext cx="4761484"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6202E"/>
                </a:solidFill>
                <a:latin typeface="Arial" pitchFamily="34" charset="0"/>
                <a:ea typeface="Arial" pitchFamily="34" charset="-122"/>
                <a:cs typeface="Arial" pitchFamily="34" charset="-120"/>
              </a:rPr>
              <a:t>Precision</a:t>
            </a:r>
            <a:r>
              <a:rPr lang="en-US" sz="1400" dirty="0">
                <a:solidFill>
                  <a:srgbClr val="16202E"/>
                </a:solidFill>
                <a:latin typeface="Arial" pitchFamily="34" charset="0"/>
                <a:ea typeface="Arial" pitchFamily="34" charset="-122"/>
                <a:cs typeface="Arial" pitchFamily="34" charset="-120"/>
              </a:rPr>
              <a:t> = TP / (TP + FP)</a:t>
            </a:r>
            <a:endParaRPr lang="en-US" sz="1400" dirty="0"/>
          </a:p>
        </p:txBody>
      </p:sp>
      <p:sp>
        <p:nvSpPr>
          <p:cNvPr id="6" name="Text 4"/>
          <p:cNvSpPr/>
          <p:nvPr/>
        </p:nvSpPr>
        <p:spPr>
          <a:xfrm>
            <a:off x="1066800" y="2339231"/>
            <a:ext cx="4761484"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6202E"/>
                </a:solidFill>
                <a:latin typeface="Arial" pitchFamily="34" charset="0"/>
                <a:ea typeface="Arial" pitchFamily="34" charset="-122"/>
                <a:cs typeface="Arial" pitchFamily="34" charset="-120"/>
              </a:rPr>
              <a:t>FP ratio</a:t>
            </a:r>
            <a:r>
              <a:rPr lang="en-US" sz="1400" dirty="0">
                <a:solidFill>
                  <a:srgbClr val="16202E"/>
                </a:solidFill>
                <a:latin typeface="Arial" pitchFamily="34" charset="0"/>
                <a:ea typeface="Arial" pitchFamily="34" charset="-122"/>
                <a:cs typeface="Arial" pitchFamily="34" charset="-120"/>
              </a:rPr>
              <a:t> = FP / (FP + TP) = 1 − precision</a:t>
            </a:r>
            <a:endParaRPr lang="en-US" sz="1400" dirty="0"/>
          </a:p>
        </p:txBody>
      </p:sp>
      <p:sp>
        <p:nvSpPr>
          <p:cNvPr id="7" name="Text 5"/>
          <p:cNvSpPr/>
          <p:nvPr/>
        </p:nvSpPr>
        <p:spPr>
          <a:xfrm>
            <a:off x="1066800" y="2689721"/>
            <a:ext cx="4761484"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6202E"/>
                </a:solidFill>
                <a:latin typeface="Arial" pitchFamily="34" charset="0"/>
                <a:ea typeface="Arial" pitchFamily="34" charset="-122"/>
                <a:cs typeface="Arial" pitchFamily="34" charset="-120"/>
              </a:rPr>
              <a:t>Alerts per TP</a:t>
            </a:r>
            <a:r>
              <a:rPr lang="en-US" sz="1400" dirty="0">
                <a:solidFill>
                  <a:srgbClr val="16202E"/>
                </a:solidFill>
                <a:latin typeface="Arial" pitchFamily="34" charset="0"/>
                <a:ea typeface="Arial" pitchFamily="34" charset="-122"/>
                <a:cs typeface="Arial" pitchFamily="34" charset="-120"/>
              </a:rPr>
              <a:t> = (TP + FP) / TP</a:t>
            </a:r>
            <a:endParaRPr lang="en-US" sz="1400" dirty="0"/>
          </a:p>
        </p:txBody>
      </p:sp>
      <p:sp>
        <p:nvSpPr>
          <p:cNvPr id="8" name="Text 6"/>
          <p:cNvSpPr/>
          <p:nvPr/>
        </p:nvSpPr>
        <p:spPr>
          <a:xfrm>
            <a:off x="1066800" y="3040211"/>
            <a:ext cx="4761484"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6202E"/>
                </a:solidFill>
                <a:latin typeface="Arial" pitchFamily="34" charset="0"/>
                <a:ea typeface="Arial" pitchFamily="34" charset="-122"/>
                <a:cs typeface="Arial" pitchFamily="34" charset="-120"/>
              </a:rPr>
              <a:t>Wilson 95% interval</a:t>
            </a:r>
            <a:r>
              <a:rPr lang="en-US" sz="1400" dirty="0">
                <a:solidFill>
                  <a:srgbClr val="16202E"/>
                </a:solidFill>
                <a:latin typeface="Arial" pitchFamily="34" charset="0"/>
                <a:ea typeface="Arial" pitchFamily="34" charset="-122"/>
                <a:cs typeface="Arial" pitchFamily="34" charset="-120"/>
              </a:rPr>
              <a:t> = (p + z²/2n ± z·√(p(1−p)/n + z²/4n²)) / (1 + z²/n)</a:t>
            </a:r>
            <a:endParaRPr lang="en-US" sz="1400" dirty="0"/>
          </a:p>
        </p:txBody>
      </p:sp>
      <p:sp>
        <p:nvSpPr>
          <p:cNvPr id="9" name="Text 7"/>
          <p:cNvSpPr/>
          <p:nvPr/>
        </p:nvSpPr>
        <p:spPr>
          <a:xfrm>
            <a:off x="1066800" y="3639592"/>
            <a:ext cx="4761484"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6202E"/>
                </a:solidFill>
                <a:latin typeface="Arial" pitchFamily="34" charset="0"/>
                <a:ea typeface="Arial" pitchFamily="34" charset="-122"/>
                <a:cs typeface="Arial" pitchFamily="34" charset="-120"/>
              </a:rPr>
              <a:t>Zero-TP upper bound</a:t>
            </a:r>
            <a:r>
              <a:rPr lang="en-US" sz="1400" dirty="0">
                <a:solidFill>
                  <a:srgbClr val="16202E"/>
                </a:solidFill>
                <a:latin typeface="Arial" pitchFamily="34" charset="0"/>
                <a:ea typeface="Arial" pitchFamily="34" charset="-122"/>
                <a:cs typeface="Arial" pitchFamily="34" charset="-120"/>
              </a:rPr>
              <a:t> = z² / (n + z²)</a:t>
            </a:r>
            <a:endParaRPr lang="en-US" sz="1400" dirty="0"/>
          </a:p>
        </p:txBody>
      </p:sp>
      <p:sp>
        <p:nvSpPr>
          <p:cNvPr id="10" name="Shape 8"/>
          <p:cNvSpPr/>
          <p:nvPr/>
        </p:nvSpPr>
        <p:spPr>
          <a:xfrm>
            <a:off x="6248400" y="1734741"/>
            <a:ext cx="5130800" cy="4412059"/>
          </a:xfrm>
          <a:prstGeom prst="rect">
            <a:avLst/>
          </a:prstGeom>
          <a:solidFill>
            <a:srgbClr val="FFFFFF"/>
          </a:solidFill>
          <a:ln/>
        </p:spPr>
      </p:sp>
      <p:sp>
        <p:nvSpPr>
          <p:cNvPr id="11" name="Text 9"/>
          <p:cNvSpPr/>
          <p:nvPr/>
        </p:nvSpPr>
        <p:spPr>
          <a:xfrm>
            <a:off x="6502400" y="1988741"/>
            <a:ext cx="4761484"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6202E"/>
                </a:solidFill>
                <a:latin typeface="Arial" pitchFamily="34" charset="0"/>
                <a:ea typeface="Arial" pitchFamily="34" charset="-122"/>
                <a:cs typeface="Arial" pitchFamily="34" charset="-120"/>
              </a:rPr>
              <a:t>Recent (3M)</a:t>
            </a:r>
            <a:r>
              <a:rPr lang="en-US" sz="1400" dirty="0">
                <a:solidFill>
                  <a:srgbClr val="16202E"/>
                </a:solidFill>
                <a:latin typeface="Arial" pitchFamily="34" charset="0"/>
                <a:ea typeface="Arial" pitchFamily="34" charset="-122"/>
                <a:cs typeface="Arial" pitchFamily="34" charset="-120"/>
              </a:rPr>
              <a:t> = months 1–3</a:t>
            </a:r>
            <a:endParaRPr lang="en-US" sz="1400" dirty="0"/>
          </a:p>
        </p:txBody>
      </p:sp>
      <p:sp>
        <p:nvSpPr>
          <p:cNvPr id="12" name="Text 10"/>
          <p:cNvSpPr/>
          <p:nvPr/>
        </p:nvSpPr>
        <p:spPr>
          <a:xfrm>
            <a:off x="6502400" y="2339231"/>
            <a:ext cx="4761484"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6202E"/>
                </a:solidFill>
                <a:latin typeface="Arial" pitchFamily="34" charset="0"/>
                <a:ea typeface="Arial" pitchFamily="34" charset="-122"/>
                <a:cs typeface="Arial" pitchFamily="34" charset="-120"/>
              </a:rPr>
              <a:t>Prior 3M</a:t>
            </a:r>
            <a:r>
              <a:rPr lang="en-US" sz="1400" dirty="0">
                <a:solidFill>
                  <a:srgbClr val="16202E"/>
                </a:solidFill>
                <a:latin typeface="Arial" pitchFamily="34" charset="0"/>
                <a:ea typeface="Arial" pitchFamily="34" charset="-122"/>
                <a:cs typeface="Arial" pitchFamily="34" charset="-120"/>
              </a:rPr>
              <a:t> = months 4–6</a:t>
            </a:r>
            <a:endParaRPr lang="en-US" sz="1400" dirty="0"/>
          </a:p>
        </p:txBody>
      </p:sp>
      <p:sp>
        <p:nvSpPr>
          <p:cNvPr id="13" name="Text 11"/>
          <p:cNvSpPr/>
          <p:nvPr/>
        </p:nvSpPr>
        <p:spPr>
          <a:xfrm>
            <a:off x="6502400" y="2689721"/>
            <a:ext cx="4761484"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6202E"/>
                </a:solidFill>
                <a:latin typeface="Arial" pitchFamily="34" charset="0"/>
                <a:ea typeface="Arial" pitchFamily="34" charset="-122"/>
                <a:cs typeface="Arial" pitchFamily="34" charset="-120"/>
              </a:rPr>
              <a:t>6M</a:t>
            </a:r>
            <a:r>
              <a:rPr lang="en-US" sz="1400" dirty="0">
                <a:solidFill>
                  <a:srgbClr val="16202E"/>
                </a:solidFill>
                <a:latin typeface="Arial" pitchFamily="34" charset="0"/>
                <a:ea typeface="Arial" pitchFamily="34" charset="-122"/>
                <a:cs typeface="Arial" pitchFamily="34" charset="-120"/>
              </a:rPr>
              <a:t> = months 1–6</a:t>
            </a:r>
            <a:endParaRPr lang="en-US" sz="1400" dirty="0"/>
          </a:p>
        </p:txBody>
      </p:sp>
      <p:sp>
        <p:nvSpPr>
          <p:cNvPr id="14" name="Text 12"/>
          <p:cNvSpPr/>
          <p:nvPr/>
        </p:nvSpPr>
        <p:spPr>
          <a:xfrm>
            <a:off x="6502400" y="3040211"/>
            <a:ext cx="4761484"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6202E"/>
                </a:solidFill>
                <a:latin typeface="Arial" pitchFamily="34" charset="0"/>
                <a:ea typeface="Arial" pitchFamily="34" charset="-122"/>
                <a:cs typeface="Arial" pitchFamily="34" charset="-120"/>
              </a:rPr>
              <a:t>Month 0</a:t>
            </a:r>
            <a:r>
              <a:rPr lang="en-US" sz="1400" dirty="0">
                <a:solidFill>
                  <a:srgbClr val="16202E"/>
                </a:solidFill>
                <a:latin typeface="Arial" pitchFamily="34" charset="0"/>
                <a:ea typeface="Arial" pitchFamily="34" charset="-122"/>
                <a:cs typeface="Arial" pitchFamily="34" charset="-120"/>
              </a:rPr>
              <a:t> = current, partial, excluded</a:t>
            </a:r>
            <a:endParaRPr lang="en-US" sz="1400" dirty="0"/>
          </a:p>
        </p:txBody>
      </p:sp>
      <p:sp>
        <p:nvSpPr>
          <p:cNvPr id="15" name="Text 13"/>
          <p:cNvSpPr/>
          <p:nvPr/>
        </p:nvSpPr>
        <p:spPr>
          <a:xfrm>
            <a:off x="6502400" y="3390702"/>
            <a:ext cx="48768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6202E"/>
                </a:solidFill>
                <a:latin typeface="Arial" pitchFamily="34" charset="0"/>
                <a:ea typeface="Arial" pitchFamily="34" charset="-122"/>
                <a:cs typeface="Arial" pitchFamily="34" charset="-120"/>
              </a:rPr>
              <a:t>NULL time frame</a:t>
            </a:r>
            <a:r>
              <a:rPr lang="en-US" sz="1400" dirty="0">
                <a:solidFill>
                  <a:srgbClr val="16202E"/>
                </a:solidFill>
                <a:latin typeface="Arial" pitchFamily="34" charset="0"/>
                <a:ea typeface="Arial" pitchFamily="34" charset="-122"/>
                <a:cs typeface="Arial" pitchFamily="34" charset="-120"/>
              </a:rPr>
              <a:t> rows are excluded from monthly figures</a:t>
            </a:r>
            <a:endParaRPr lang="en-US" sz="1400" dirty="0"/>
          </a:p>
        </p:txBody>
      </p:sp>
      <p:sp>
        <p:nvSpPr>
          <p:cNvPr id="16" name="Text 14"/>
          <p:cNvSpPr/>
          <p:nvPr/>
        </p:nvSpPr>
        <p:spPr>
          <a:xfrm>
            <a:off x="6502400" y="3741192"/>
            <a:ext cx="4761484"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6202E"/>
                </a:solidFill>
                <a:latin typeface="Arial" pitchFamily="34" charset="0"/>
                <a:ea typeface="Arial" pitchFamily="34" charset="-122"/>
                <a:cs typeface="Arial" pitchFamily="34" charset="-120"/>
              </a:rPr>
              <a:t>Data</a:t>
            </a:r>
            <a:r>
              <a:rPr lang="en-US" sz="1400" dirty="0">
                <a:solidFill>
                  <a:srgbClr val="16202E"/>
                </a:solidFill>
                <a:latin typeface="Arial" pitchFamily="34" charset="0"/>
                <a:ea typeface="Arial" pitchFamily="34" charset="-122"/>
                <a:cs typeface="Arial" pitchFamily="34" charset="-120"/>
              </a:rPr>
              <a:t> = 739 records in long format by scenario, time frame, volume, result and hit type</a:t>
            </a:r>
            <a:endParaRPr lang="en-US" sz="1400" dirty="0"/>
          </a:p>
        </p:txBody>
      </p:sp>
    </p:spTree>
  </p:cSld>
  <p:clrMapOvr>
    <a:masterClrMapping/>
  </p:clrMapOvr>
</p:sld>
</file>

<file path=ppt/theme/theme1.xml><?xml version="1.0" encoding="utf-8"?>
<a:theme xmlns:a="http://schemas.openxmlformats.org/drawingml/2006/main" name="ROVA monitoring review">
  <a:themeElements>
    <a:clrScheme name="ROVA monitoring review">
      <a:dk1>
        <a:srgbClr val="16202E"/>
      </a:dk1>
      <a:lt1>
        <a:srgbClr val="F6F4EF"/>
      </a:lt1>
      <a:dk2>
        <a:srgbClr val="4E555E"/>
      </a:dk2>
      <a:lt2>
        <a:srgbClr val="E0DFDC"/>
      </a:lt2>
      <a:accent1>
        <a:srgbClr val="2B7A93"/>
      </a:accent1>
      <a:accent2>
        <a:srgbClr val="7FC1D6"/>
      </a:accent2>
      <a:accent3>
        <a:srgbClr val="2E8B57"/>
      </a:accent3>
      <a:accent4>
        <a:srgbClr val="E0A526"/>
      </a:accent4>
      <a:accent5>
        <a:srgbClr val="C0392B"/>
      </a:accent5>
      <a:accent6>
        <a:srgbClr val="8A6A2F"/>
      </a:accent6>
      <a:hlink>
        <a:srgbClr val="0563C1"/>
      </a:hlink>
      <a:folHlink>
        <a:srgbClr val="954F72"/>
      </a:folHlink>
    </a:clrScheme>
    <a:fontScheme name="ROVA monitoring review">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ROVA monitoring review</dc:title>
  <dc:subject/>
  <dc:creator/>
  <cp:lastModifiedBy/>
  <cp:revision>1</cp:revision>
  <dcterms:created xsi:type="dcterms:W3CDTF">2026-10-26T16:04:27Z</dcterms:created>
  <dcterms:modified xsi:type="dcterms:W3CDTF">2026-10-26T16:04:27Z</dcterms:modified>
</cp:coreProperties>
</file>