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open a discussion with the model stakeholders on what the ROVA bi-weekly monitoring can and cannot tell us, and which metrics we propose to add. This is a draft for discussion. Figures taken from workbook screenshots are marked and will be reconfirmed on the full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scope: this is independent model validation, not an audit of the fraud team. We are looking at the monitoring as the ongoing evidence that ROVA performs. Everything here is for discussion and we want the owners to correct anything we have misread.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recap of the process document we reviewed earlier. The point is the link: pre-deployment testing is covered by the 12 steps, ongoing performance depends on the monitoring, so the monitoring has to be strong enough to support tuning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steps. Ask the owners to confirm: whether volume is alerts or payments (we read it as alerts), and whether the 6-month tab uses the same SQL logic as the 3-month window. Stress that missing thresholds is a finding about documentation, not about the judgement of the experts.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band cut-offs are inferred from colours in the screenshot. The key message is the second bullet: identical colour for very different evidence. We come back to this on the uncertainty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deficiencies as identified in the monitoring review. Items 2 and 3 are explained on the next slides. Item 4: the bi-weekly data holds alerts only, so it gives precision, not recall. The FraudSTATS report has false negatives in total; see the FraudSTATS slide. Item 1 is a reporting choice that can be fixed with data ROVA already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direction of bias: we do not know it yet. The photographed NULL rows were FP, but a handful of rows is not evidence. The request to the owners is a simple count by result. Also confirm whether the 6-month tab uses the same SQL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reading of FraudSTATS_2026-09-29 from screenshots, to be confirmed with the owners. ROVASTATS_Volume has all four confusion-matrix cells, so it can give an FPR over payments screened and a recall, which the bi-weekly cannot. The third rate column equals TP / (TP + FP) on the rows we checked, so it is precision despite the ACC label. Daily_Loss_Rate matches loss divided by 30, 31 and 92 days, which suggests September, August and a 3-month window, but the tabs do not say. The 17 vs 5 comparison depends on that reading. Alerts can double count a payment hit by several scenarios, so scenario totals will not match payment totals exactly; the reconciliation has to allow for that. Cross-border and Faster Payments have their own tabs that we have not seen, so scope may explain part of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hypothesis we can test, not a conclusion. Sofia's understanding is that all reported cases are closed, so open cases are excluded. That is a selection effect: the direction of the bias depends on whether TP or FP cases close faster, which we do not know. Ask for days to close by outcome and the open share by month. If the lag index is below 1 across most scenarios at the same time, that is the signature of lag. If it is concentrated in a few scenarios, it is more likely real change. The minimum TP count for the index is set in the workbook Parameters tab (currently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maths light for this audience. Key phrase: how much would the number move if we saw a handful more alerts. The minimum alert and TP thresholds are our own working values from the template and are open for discussion. 3.8 is 1.96 squared (3.84).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Concentration tells us where tuning effort pays off and which scenarios may be redundant. We use a correlation of monthly alerts only as a rough proxy for overlap between scenarios, since there is no alert-level link between them in the data. The spike threshold of 2 is a parameter in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findings to asks. The false negative row is the hardest: without a source of missed fraud we can only offer a proxy, and the owners may know of one (for example customer reports or scheme data). We are not asking for all of it at once; the next steps slide sets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design principles, not a demand to rebuild the workbook. The thresholds are for the owners to set; we only ask that they are written down and applied consistently. The combined dataset is the key ask: with every confirmed fraud payment and the scenarios that hit it (or would have hit it on replay), recall by scenario is hits on fraud divided by all confirmed fraud, and unique catches show which scenarios are redundant. Mention that alert-level reductions already need CFCPO/MLRO sign-off, so a defined trigger helps that governance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answers to the four questions first, since they decide how much of our analysis stands. No dates are set here; agree them in the room. Our analysis workbook is ready to run on the full export as soon as the data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same formulas are implemented in the ROVA_monitoring_challenge workbook, so every number on these slides can be reproduced when the full data is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24520"/>
            <a:ext cx="10566400" cy="1061641"/>
          </a:xfrm>
          <a:prstGeom prst="rect">
            <a:avLst/>
          </a:prstGeom>
          <a:noFill/>
          <a:ln/>
        </p:spPr>
        <p:txBody>
          <a:bodyPr wrap="square" lIns="0" tIns="0" rIns="0" bIns="0" rtlCol="0" anchor="t"/>
          <a:lstStyle>
            <a:lvl1pPr algn="l" indent="0" marL="0">
              <a:lnSpc>
                <a:spcPct val="115000"/>
              </a:lnSpc>
              <a:buNone/>
              <a:defRPr lang="en-US" sz="3800" dirty="0">
                <a:solidFill>
                  <a:srgbClr val="16202E"/>
                </a:solidFill>
                <a:latin typeface="Georgia" pitchFamily="34" charset="0"/>
                <a:ea typeface="Georgia" pitchFamily="34" charset="-122"/>
                <a:cs typeface="Georgia"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2290961"/>
            <a:ext cx="10566400" cy="375423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24520"/>
            <a:ext cx="10566400" cy="1061641"/>
          </a:xfrm>
          <a:prstGeom prst="rect">
            <a:avLst/>
          </a:prstGeom>
          <a:noFill/>
          <a:ln/>
        </p:spPr>
        <p:txBody>
          <a:bodyPr wrap="square" lIns="0" tIns="0" rIns="0" bIns="0" rtlCol="0" anchor="t"/>
          <a:lstStyle>
            <a:lvl1pPr algn="l" indent="0" marL="0">
              <a:lnSpc>
                <a:spcPct val="115000"/>
              </a:lnSpc>
              <a:buNone/>
              <a:defRPr lang="en-US" sz="3800" dirty="0">
                <a:solidFill>
                  <a:srgbClr val="16202E"/>
                </a:solidFill>
                <a:latin typeface="Georgia" pitchFamily="34" charset="0"/>
                <a:ea typeface="Georgia" pitchFamily="34" charset="-122"/>
                <a:cs typeface="Georgia"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2290961"/>
            <a:ext cx="10566400" cy="375423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FC1D6"/>
                </a:solidFill>
                <a:latin typeface="Arial" pitchFamily="34" charset="0"/>
                <a:ea typeface="Arial" pitchFamily="34" charset="-122"/>
                <a:cs typeface="Arial" pitchFamily="34" charset="-120"/>
              </a:rPr>
              <a:t>UK MODEL RISK MANAGEMENT</a:t>
            </a:r>
            <a:endParaRPr lang="en-US" sz="1200" dirty="0"/>
          </a:p>
        </p:txBody>
      </p:sp>
      <p:sp>
        <p:nvSpPr>
          <p:cNvPr id="3" name="Text 1"/>
          <p:cNvSpPr/>
          <p:nvPr>
            <p:ph type="title"/>
          </p:nvPr>
        </p:nvSpPr>
        <p:spPr>
          <a:xfrm>
            <a:off x="812800" y="27266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2F5F8"/>
                </a:solidFill>
                <a:latin typeface="Georgia" pitchFamily="18" charset="0"/>
                <a:ea typeface="Georgia" pitchFamily="18" charset="-122"/>
                <a:cs typeface="Georgia" pitchFamily="18" charset="-120"/>
              </a:rPr>
              <a:t>ROVA scenario monitoring</a:t>
            </a:r>
            <a:endParaRPr lang="en-US" sz="6000" dirty="0"/>
          </a:p>
        </p:txBody>
      </p:sp>
      <p:sp>
        <p:nvSpPr>
          <p:cNvPr id="4" name="Text 2"/>
          <p:cNvSpPr/>
          <p:nvPr/>
        </p:nvSpPr>
        <p:spPr>
          <a:xfrm>
            <a:off x="812800" y="372998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AFC0D0"/>
                </a:solidFill>
                <a:latin typeface="Arial" pitchFamily="34" charset="0"/>
                <a:ea typeface="Arial" pitchFamily="34" charset="-122"/>
                <a:cs typeface="Arial" pitchFamily="34" charset="-120"/>
              </a:rPr>
              <a:t>Review and challenge of the bi-weekly TP and FP monitoring</a:t>
            </a:r>
            <a:endParaRPr lang="en-US" sz="2000" dirty="0"/>
          </a:p>
        </p:txBody>
      </p:sp>
      <p:sp>
        <p:nvSpPr>
          <p:cNvPr id="5" name="Text 3"/>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FC0D0"/>
                </a:solidFill>
                <a:latin typeface="Arial" pitchFamily="34" charset="0"/>
                <a:ea typeface="Arial" pitchFamily="34" charset="-122"/>
                <a:cs typeface="Arial" pitchFamily="34" charset="-120"/>
              </a:rPr>
              <a:t>Discussion draft · 26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SCOPE</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We are challenging whether the monitoring can show ROVA is still working</a:t>
            </a:r>
            <a:endParaRPr lang="en-US" sz="3800" dirty="0"/>
          </a:p>
        </p:txBody>
      </p:sp>
      <p:sp>
        <p:nvSpPr>
          <p:cNvPr id="4" name="Shape 2"/>
          <p:cNvSpPr/>
          <p:nvPr/>
        </p:nvSpPr>
        <p:spPr>
          <a:xfrm>
            <a:off x="812800" y="2341761"/>
            <a:ext cx="3318917" cy="3805039"/>
          </a:xfrm>
          <a:prstGeom prst="rect">
            <a:avLst/>
          </a:prstGeom>
          <a:solidFill>
            <a:srgbClr val="FFFFFF"/>
          </a:solidFill>
          <a:ln/>
        </p:spPr>
      </p:sp>
      <p:sp>
        <p:nvSpPr>
          <p:cNvPr id="5" name="Shape 3"/>
          <p:cNvSpPr/>
          <p:nvPr/>
        </p:nvSpPr>
        <p:spPr>
          <a:xfrm>
            <a:off x="812800" y="2360811"/>
            <a:ext cx="3318917" cy="0"/>
          </a:xfrm>
          <a:prstGeom prst="line">
            <a:avLst/>
          </a:prstGeom>
          <a:noFill/>
          <a:ln w="38100">
            <a:solidFill>
              <a:srgbClr val="2B7A93"/>
            </a:solidFill>
            <a:prstDash val="solid"/>
          </a:ln>
        </p:spPr>
      </p:sp>
      <p:sp>
        <p:nvSpPr>
          <p:cNvPr id="6" name="Text 4"/>
          <p:cNvSpPr/>
          <p:nvPr/>
        </p:nvSpPr>
        <p:spPr>
          <a:xfrm>
            <a:off x="1066800" y="2633861"/>
            <a:ext cx="28952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The system</a:t>
            </a:r>
            <a:endParaRPr lang="en-US" sz="1800" dirty="0"/>
          </a:p>
        </p:txBody>
      </p:sp>
      <p:sp>
        <p:nvSpPr>
          <p:cNvPr id="7" name="Text 5"/>
          <p:cNvSpPr/>
          <p:nvPr/>
        </p:nvSpPr>
        <p:spPr>
          <a:xfrm>
            <a:off x="1066800" y="2908151"/>
            <a:ext cx="2895244"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ROVA is the Group-owned realtime outgoing payment fraud detection system. Each scenario scores independently and the total score drives a HOLD or STOP response.</a:t>
            </a:r>
            <a:endParaRPr lang="en-US" sz="1500" dirty="0"/>
          </a:p>
        </p:txBody>
      </p:sp>
      <p:sp>
        <p:nvSpPr>
          <p:cNvPr id="8" name="Shape 6"/>
          <p:cNvSpPr/>
          <p:nvPr/>
        </p:nvSpPr>
        <p:spPr>
          <a:xfrm>
            <a:off x="4436517" y="2341761"/>
            <a:ext cx="3318966" cy="3805039"/>
          </a:xfrm>
          <a:prstGeom prst="rect">
            <a:avLst/>
          </a:prstGeom>
          <a:solidFill>
            <a:srgbClr val="FFFFFF"/>
          </a:solidFill>
          <a:ln/>
        </p:spPr>
      </p:sp>
      <p:sp>
        <p:nvSpPr>
          <p:cNvPr id="9" name="Shape 7"/>
          <p:cNvSpPr/>
          <p:nvPr/>
        </p:nvSpPr>
        <p:spPr>
          <a:xfrm>
            <a:off x="4436517" y="2360811"/>
            <a:ext cx="3318966" cy="0"/>
          </a:xfrm>
          <a:prstGeom prst="line">
            <a:avLst/>
          </a:prstGeom>
          <a:noFill/>
          <a:ln w="38100">
            <a:solidFill>
              <a:srgbClr val="2B7A93"/>
            </a:solidFill>
            <a:prstDash val="solid"/>
          </a:ln>
        </p:spPr>
      </p:sp>
      <p:sp>
        <p:nvSpPr>
          <p:cNvPr id="10" name="Text 8"/>
          <p:cNvSpPr/>
          <p:nvPr/>
        </p:nvSpPr>
        <p:spPr>
          <a:xfrm>
            <a:off x="4690517" y="2633861"/>
            <a:ext cx="289529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The monitoring</a:t>
            </a:r>
            <a:endParaRPr lang="en-US" sz="1800" dirty="0"/>
          </a:p>
        </p:txBody>
      </p:sp>
      <p:sp>
        <p:nvSpPr>
          <p:cNvPr id="11" name="Text 9"/>
          <p:cNvSpPr/>
          <p:nvPr/>
        </p:nvSpPr>
        <p:spPr>
          <a:xfrm>
            <a:off x="4690517" y="2908151"/>
            <a:ext cx="2895295"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A bi-weekly workbook reports true positives (TP) and false positives (FP) for every scenario active in the last 3 and 6 months. The Rule Pivot tab is the main view.</a:t>
            </a:r>
            <a:endParaRPr lang="en-US" sz="1500" dirty="0"/>
          </a:p>
        </p:txBody>
      </p:sp>
      <p:sp>
        <p:nvSpPr>
          <p:cNvPr id="12" name="Shape 10"/>
          <p:cNvSpPr/>
          <p:nvPr/>
        </p:nvSpPr>
        <p:spPr>
          <a:xfrm>
            <a:off x="8060283" y="2341761"/>
            <a:ext cx="3318917" cy="3805039"/>
          </a:xfrm>
          <a:prstGeom prst="rect">
            <a:avLst/>
          </a:prstGeom>
          <a:solidFill>
            <a:srgbClr val="FFFFFF"/>
          </a:solidFill>
          <a:ln/>
        </p:spPr>
      </p:sp>
      <p:sp>
        <p:nvSpPr>
          <p:cNvPr id="13" name="Shape 11"/>
          <p:cNvSpPr/>
          <p:nvPr/>
        </p:nvSpPr>
        <p:spPr>
          <a:xfrm>
            <a:off x="8060283" y="2360811"/>
            <a:ext cx="3318917" cy="0"/>
          </a:xfrm>
          <a:prstGeom prst="line">
            <a:avLst/>
          </a:prstGeom>
          <a:noFill/>
          <a:ln w="38100">
            <a:solidFill>
              <a:srgbClr val="2B7A93"/>
            </a:solidFill>
            <a:prstDash val="solid"/>
          </a:ln>
        </p:spPr>
      </p:sp>
      <p:sp>
        <p:nvSpPr>
          <p:cNvPr id="14" name="Text 12"/>
          <p:cNvSpPr/>
          <p:nvPr/>
        </p:nvSpPr>
        <p:spPr>
          <a:xfrm>
            <a:off x="8314283" y="2633861"/>
            <a:ext cx="28952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Our question</a:t>
            </a:r>
            <a:endParaRPr lang="en-US" sz="1800" dirty="0"/>
          </a:p>
        </p:txBody>
      </p:sp>
      <p:sp>
        <p:nvSpPr>
          <p:cNvPr id="15" name="Text 13"/>
          <p:cNvSpPr/>
          <p:nvPr/>
        </p:nvSpPr>
        <p:spPr>
          <a:xfrm>
            <a:off x="8314283" y="2908151"/>
            <a:ext cx="2895244"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Do the metrics, colours and data behind the monitoring give enough evidence to support decisions on scenario performance and tuning?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CONTEXT · CHANGE PROCESS</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New scenarios go through 12 steps in three phases</a:t>
            </a:r>
            <a:endParaRPr lang="en-US" sz="3800" dirty="0"/>
          </a:p>
        </p:txBody>
      </p:sp>
      <p:sp>
        <p:nvSpPr>
          <p:cNvPr id="4" name="Shape 2"/>
          <p:cNvSpPr/>
          <p:nvPr/>
        </p:nvSpPr>
        <p:spPr>
          <a:xfrm>
            <a:off x="812800" y="2290961"/>
            <a:ext cx="4119017" cy="3017639"/>
          </a:xfrm>
          <a:prstGeom prst="rect">
            <a:avLst/>
          </a:prstGeom>
          <a:solidFill>
            <a:srgbClr val="E3F0F4"/>
          </a:solidFill>
          <a:ln/>
        </p:spPr>
      </p:sp>
      <p:sp>
        <p:nvSpPr>
          <p:cNvPr id="5" name="Text 3"/>
          <p:cNvSpPr/>
          <p:nvPr/>
        </p:nvSpPr>
        <p:spPr>
          <a:xfrm>
            <a:off x="1041400" y="2519561"/>
            <a:ext cx="3771671" cy="558800"/>
          </a:xfrm>
          <a:prstGeom prst="rect">
            <a:avLst/>
          </a:prstGeom>
          <a:noFill/>
          <a:ln/>
        </p:spPr>
        <p:txBody>
          <a:bodyPr wrap="square" lIns="0" tIns="0" rIns="0" bIns="0" rtlCol="0" anchor="t">
            <a:normAutofit/>
          </a:bodyPr>
          <a:lstStyle/>
          <a:p>
            <a:pPr algn="l" indent="0" marL="0">
              <a:lnSpc>
                <a:spcPts val="4200"/>
              </a:lnSpc>
              <a:buNone/>
            </a:pPr>
            <a:r>
              <a:rPr lang="en-US" sz="3000" dirty="0">
                <a:solidFill>
                  <a:srgbClr val="2B7A93"/>
                </a:solidFill>
                <a:latin typeface="Georgia" pitchFamily="18" charset="0"/>
                <a:ea typeface="Georgia" pitchFamily="18" charset="-122"/>
                <a:cs typeface="Georgia" pitchFamily="18" charset="-120"/>
              </a:rPr>
              <a:t>1–5</a:t>
            </a:r>
            <a:endParaRPr lang="en-US" sz="3000" dirty="0"/>
          </a:p>
        </p:txBody>
      </p:sp>
      <p:sp>
        <p:nvSpPr>
          <p:cNvPr id="6" name="Text 4"/>
          <p:cNvSpPr/>
          <p:nvPr/>
        </p:nvSpPr>
        <p:spPr>
          <a:xfrm>
            <a:off x="1041400" y="3052961"/>
            <a:ext cx="377167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Build and validate</a:t>
            </a:r>
            <a:endParaRPr lang="en-US" sz="1800" dirty="0"/>
          </a:p>
        </p:txBody>
      </p:sp>
      <p:sp>
        <p:nvSpPr>
          <p:cNvPr id="7" name="Text 5"/>
          <p:cNvSpPr/>
          <p:nvPr/>
        </p:nvSpPr>
        <p:spPr>
          <a:xfrm>
            <a:off x="1041400" y="3327251"/>
            <a:ext cx="3771671"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756"/>
                </a:solidFill>
                <a:latin typeface="Arial" pitchFamily="34" charset="0"/>
                <a:ea typeface="Arial" pitchFamily="34" charset="-122"/>
                <a:cs typeface="Arial" pitchFamily="34" charset="-120"/>
              </a:rPr>
              <a:t>Identify the fraud, simulate against the current control set, review the key features, build a test scenario and re-simulate until the fraud is held or stopped.</a:t>
            </a:r>
            <a:endParaRPr lang="en-US" sz="1400" dirty="0"/>
          </a:p>
        </p:txBody>
      </p:sp>
      <p:sp>
        <p:nvSpPr>
          <p:cNvPr id="8" name="Shape 6"/>
          <p:cNvSpPr/>
          <p:nvPr/>
        </p:nvSpPr>
        <p:spPr>
          <a:xfrm>
            <a:off x="5135017" y="2290961"/>
            <a:ext cx="2654300" cy="3017639"/>
          </a:xfrm>
          <a:prstGeom prst="rect">
            <a:avLst/>
          </a:prstGeom>
          <a:solidFill>
            <a:srgbClr val="EFE9DC"/>
          </a:solidFill>
          <a:ln/>
        </p:spPr>
      </p:sp>
      <p:sp>
        <p:nvSpPr>
          <p:cNvPr id="9" name="Text 7"/>
          <p:cNvSpPr/>
          <p:nvPr/>
        </p:nvSpPr>
        <p:spPr>
          <a:xfrm>
            <a:off x="5363617" y="2519561"/>
            <a:ext cx="2263013" cy="558800"/>
          </a:xfrm>
          <a:prstGeom prst="rect">
            <a:avLst/>
          </a:prstGeom>
          <a:noFill/>
          <a:ln/>
        </p:spPr>
        <p:txBody>
          <a:bodyPr wrap="square" lIns="0" tIns="0" rIns="0" bIns="0" rtlCol="0" anchor="t">
            <a:normAutofit/>
          </a:bodyPr>
          <a:lstStyle/>
          <a:p>
            <a:pPr algn="l" indent="0" marL="0">
              <a:lnSpc>
                <a:spcPts val="4200"/>
              </a:lnSpc>
              <a:buNone/>
            </a:pPr>
            <a:r>
              <a:rPr lang="en-US" sz="3000" dirty="0">
                <a:solidFill>
                  <a:srgbClr val="8A6A2F"/>
                </a:solidFill>
                <a:latin typeface="Georgia" pitchFamily="18" charset="0"/>
                <a:ea typeface="Georgia" pitchFamily="18" charset="-122"/>
                <a:cs typeface="Georgia" pitchFamily="18" charset="-120"/>
              </a:rPr>
              <a:t>6–8</a:t>
            </a:r>
            <a:endParaRPr lang="en-US" sz="3000" dirty="0"/>
          </a:p>
        </p:txBody>
      </p:sp>
      <p:sp>
        <p:nvSpPr>
          <p:cNvPr id="10" name="Text 8"/>
          <p:cNvSpPr/>
          <p:nvPr/>
        </p:nvSpPr>
        <p:spPr>
          <a:xfrm>
            <a:off x="5363617" y="3052961"/>
            <a:ext cx="226301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Widen testing</a:t>
            </a:r>
            <a:endParaRPr lang="en-US" sz="1800" dirty="0"/>
          </a:p>
        </p:txBody>
      </p:sp>
      <p:sp>
        <p:nvSpPr>
          <p:cNvPr id="11" name="Text 9"/>
          <p:cNvSpPr/>
          <p:nvPr/>
        </p:nvSpPr>
        <p:spPr>
          <a:xfrm>
            <a:off x="5363617" y="3327251"/>
            <a:ext cx="226301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756"/>
                </a:solidFill>
                <a:latin typeface="Arial" pitchFamily="34" charset="0"/>
                <a:ea typeface="Arial" pitchFamily="34" charset="-122"/>
                <a:cs typeface="Arial" pitchFamily="34" charset="-120"/>
              </a:rPr>
              <a:t>Check for duplication, missed payments and the false positive rate impact.</a:t>
            </a:r>
            <a:endParaRPr lang="en-US" sz="1400" dirty="0"/>
          </a:p>
        </p:txBody>
      </p:sp>
      <p:sp>
        <p:nvSpPr>
          <p:cNvPr id="12" name="Shape 10"/>
          <p:cNvSpPr/>
          <p:nvPr/>
        </p:nvSpPr>
        <p:spPr>
          <a:xfrm>
            <a:off x="7992517" y="2290961"/>
            <a:ext cx="3386683" cy="3017639"/>
          </a:xfrm>
          <a:prstGeom prst="rect">
            <a:avLst/>
          </a:prstGeom>
          <a:solidFill>
            <a:srgbClr val="E8E6F1"/>
          </a:solidFill>
          <a:ln/>
        </p:spPr>
      </p:sp>
      <p:sp>
        <p:nvSpPr>
          <p:cNvPr id="13" name="Text 11"/>
          <p:cNvSpPr/>
          <p:nvPr/>
        </p:nvSpPr>
        <p:spPr>
          <a:xfrm>
            <a:off x="8221117" y="2519561"/>
            <a:ext cx="3017368" cy="558800"/>
          </a:xfrm>
          <a:prstGeom prst="rect">
            <a:avLst/>
          </a:prstGeom>
          <a:noFill/>
          <a:ln/>
        </p:spPr>
        <p:txBody>
          <a:bodyPr wrap="square" lIns="0" tIns="0" rIns="0" bIns="0" rtlCol="0" anchor="t">
            <a:normAutofit/>
          </a:bodyPr>
          <a:lstStyle/>
          <a:p>
            <a:pPr algn="l" indent="0" marL="0">
              <a:lnSpc>
                <a:spcPts val="4200"/>
              </a:lnSpc>
              <a:buNone/>
            </a:pPr>
            <a:r>
              <a:rPr lang="en-US" sz="3000" dirty="0">
                <a:solidFill>
                  <a:srgbClr val="4C4690"/>
                </a:solidFill>
                <a:latin typeface="Georgia" pitchFamily="18" charset="0"/>
                <a:ea typeface="Georgia" pitchFamily="18" charset="-122"/>
                <a:cs typeface="Georgia" pitchFamily="18" charset="-120"/>
              </a:rPr>
              <a:t>9–12</a:t>
            </a:r>
            <a:endParaRPr lang="en-US" sz="3000" dirty="0"/>
          </a:p>
        </p:txBody>
      </p:sp>
      <p:sp>
        <p:nvSpPr>
          <p:cNvPr id="14" name="Text 12"/>
          <p:cNvSpPr/>
          <p:nvPr/>
        </p:nvSpPr>
        <p:spPr>
          <a:xfrm>
            <a:off x="8221117" y="3052961"/>
            <a:ext cx="301736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Govern</a:t>
            </a:r>
            <a:endParaRPr lang="en-US" sz="1800" dirty="0"/>
          </a:p>
        </p:txBody>
      </p:sp>
      <p:sp>
        <p:nvSpPr>
          <p:cNvPr id="15" name="Text 13"/>
          <p:cNvSpPr/>
          <p:nvPr/>
        </p:nvSpPr>
        <p:spPr>
          <a:xfrm>
            <a:off x="8221117" y="3327251"/>
            <a:ext cx="3017368"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756"/>
                </a:solidFill>
                <a:latin typeface="Arial" pitchFamily="34" charset="0"/>
                <a:ea typeface="Arial" pitchFamily="34" charset="-122"/>
                <a:cs typeface="Arial" pitchFamily="34" charset="-120"/>
              </a:rPr>
              <a:t>Evidence is reviewed by UKOX-D and UKOX-B, then dual-user sign-off. Alert-level reductions also need CFCPO/MLRO sign-off.</a:t>
            </a:r>
            <a:endParaRPr lang="en-US" sz="1400" dirty="0"/>
          </a:p>
        </p:txBody>
      </p:sp>
      <p:sp>
        <p:nvSpPr>
          <p:cNvPr id="16" name="Shape 14"/>
          <p:cNvSpPr/>
          <p:nvPr/>
        </p:nvSpPr>
        <p:spPr>
          <a:xfrm>
            <a:off x="831850" y="5613400"/>
            <a:ext cx="0" cy="533400"/>
          </a:xfrm>
          <a:prstGeom prst="line">
            <a:avLst/>
          </a:prstGeom>
          <a:noFill/>
          <a:ln w="38100">
            <a:solidFill>
              <a:srgbClr val="2B7A93"/>
            </a:solidFill>
            <a:prstDash val="solid"/>
          </a:ln>
        </p:spPr>
      </p:sp>
      <p:sp>
        <p:nvSpPr>
          <p:cNvPr id="17" name="Text 15"/>
          <p:cNvSpPr/>
          <p:nvPr/>
        </p:nvSpPr>
        <p:spPr>
          <a:xfrm>
            <a:off x="1028700" y="5613400"/>
            <a:ext cx="1066101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Arial" pitchFamily="34" charset="0"/>
                <a:ea typeface="Arial" pitchFamily="34" charset="-122"/>
                <a:cs typeface="Arial" pitchFamily="34" charset="-120"/>
              </a:rPr>
              <a:t>The change process tests a scenario before it goes live. The bi-weekly monitoring is what tells us whether it keeps working afterwards.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CURRENT MONITORING</a:t>
            </a:r>
            <a:endParaRPr lang="en-US" sz="1200" dirty="0"/>
          </a:p>
        </p:txBody>
      </p:sp>
      <p:sp>
        <p:nvSpPr>
          <p:cNvPr id="3" name="Text 1"/>
          <p:cNvSpPr/>
          <p:nvPr>
            <p:ph type="title"/>
          </p:nvPr>
        </p:nvSpPr>
        <p:spPr>
          <a:xfrm>
            <a:off x="812800" y="92452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What the bi-weekly monitoring does today</a:t>
            </a:r>
            <a:endParaRPr lang="en-US" sz="3800" dirty="0"/>
          </a:p>
        </p:txBody>
      </p:sp>
      <p:sp>
        <p:nvSpPr>
          <p:cNvPr id="4" name="Text 2"/>
          <p:cNvSpPr/>
          <p:nvPr/>
        </p:nvSpPr>
        <p:spPr>
          <a:xfrm>
            <a:off x="812800" y="1760141"/>
            <a:ext cx="406400" cy="109220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B7A93"/>
                </a:solidFill>
                <a:latin typeface="Georgia" pitchFamily="18" charset="0"/>
                <a:ea typeface="Georgia" pitchFamily="18" charset="-122"/>
                <a:cs typeface="Georgia" pitchFamily="18" charset="-120"/>
              </a:rPr>
              <a:t>1</a:t>
            </a:r>
            <a:endParaRPr lang="en-US" sz="2200" dirty="0"/>
          </a:p>
        </p:txBody>
      </p:sp>
      <p:sp>
        <p:nvSpPr>
          <p:cNvPr id="5" name="Text 3"/>
          <p:cNvSpPr/>
          <p:nvPr/>
        </p:nvSpPr>
        <p:spPr>
          <a:xfrm>
            <a:off x="1320800" y="1760141"/>
            <a:ext cx="4421378" cy="10922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Pull the data.</a:t>
            </a:r>
            <a:r>
              <a:rPr lang="en-US" sz="1500" dirty="0">
                <a:solidFill>
                  <a:srgbClr val="16202E"/>
                </a:solidFill>
                <a:latin typeface="Arial" pitchFamily="34" charset="0"/>
                <a:ea typeface="Arial" pitchFamily="34" charset="-122"/>
                <a:cs typeface="Arial" pitchFamily="34" charset="-120"/>
              </a:rPr>
              <a:t> A SQL extract takes hits with a case status in the last 3 months and joins them to transaction data. The workbook holds 6-month and 3-month views.</a:t>
            </a:r>
            <a:endParaRPr lang="en-US" sz="1500" dirty="0"/>
          </a:p>
        </p:txBody>
      </p:sp>
      <p:sp>
        <p:nvSpPr>
          <p:cNvPr id="6" name="Text 4"/>
          <p:cNvSpPr/>
          <p:nvPr/>
        </p:nvSpPr>
        <p:spPr>
          <a:xfrm>
            <a:off x="812800" y="3004741"/>
            <a:ext cx="406400" cy="82550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B7A93"/>
                </a:solidFill>
                <a:latin typeface="Georgia" pitchFamily="18" charset="0"/>
                <a:ea typeface="Georgia" pitchFamily="18" charset="-122"/>
                <a:cs typeface="Georgia" pitchFamily="18" charset="-120"/>
              </a:rPr>
              <a:t>2</a:t>
            </a:r>
            <a:endParaRPr lang="en-US" sz="2200" dirty="0"/>
          </a:p>
        </p:txBody>
      </p:sp>
      <p:sp>
        <p:nvSpPr>
          <p:cNvPr id="7" name="Text 5"/>
          <p:cNvSpPr/>
          <p:nvPr/>
        </p:nvSpPr>
        <p:spPr>
          <a:xfrm>
            <a:off x="1320800" y="3004741"/>
            <a:ext cx="4421378"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Count alerts.</a:t>
            </a:r>
            <a:r>
              <a:rPr lang="en-US" sz="1500" dirty="0">
                <a:solidFill>
                  <a:srgbClr val="16202E"/>
                </a:solidFill>
                <a:latin typeface="Arial" pitchFamily="34" charset="0"/>
                <a:ea typeface="Arial" pitchFamily="34" charset="-122"/>
                <a:cs typeface="Arial" pitchFamily="34" charset="-120"/>
              </a:rPr>
              <a:t> For each scenario, month and hit type (HOLD or STOP), the volume is the number of alerts, split into TP and FP.</a:t>
            </a:r>
            <a:endParaRPr lang="en-US" sz="1500" dirty="0"/>
          </a:p>
        </p:txBody>
      </p:sp>
      <p:sp>
        <p:nvSpPr>
          <p:cNvPr id="8" name="Text 6"/>
          <p:cNvSpPr/>
          <p:nvPr/>
        </p:nvSpPr>
        <p:spPr>
          <a:xfrm>
            <a:off x="812800" y="3982641"/>
            <a:ext cx="406400" cy="82550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B7A93"/>
                </a:solidFill>
                <a:latin typeface="Georgia" pitchFamily="18" charset="0"/>
                <a:ea typeface="Georgia" pitchFamily="18" charset="-122"/>
                <a:cs typeface="Georgia" pitchFamily="18" charset="-120"/>
              </a:rPr>
              <a:t>3</a:t>
            </a:r>
            <a:endParaRPr lang="en-US" sz="2200" dirty="0"/>
          </a:p>
        </p:txBody>
      </p:sp>
      <p:sp>
        <p:nvSpPr>
          <p:cNvPr id="9" name="Text 7"/>
          <p:cNvSpPr/>
          <p:nvPr/>
        </p:nvSpPr>
        <p:spPr>
          <a:xfrm>
            <a:off x="1320800" y="3982641"/>
            <a:ext cx="4421378"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Report on the Rule Pivot.</a:t>
            </a:r>
            <a:r>
              <a:rPr lang="en-US" sz="1500" dirty="0">
                <a:solidFill>
                  <a:srgbClr val="16202E"/>
                </a:solidFill>
                <a:latin typeface="Arial" pitchFamily="34" charset="0"/>
                <a:ea typeface="Arial" pitchFamily="34" charset="-122"/>
                <a:cs typeface="Arial" pitchFamily="34" charset="-120"/>
              </a:rPr>
              <a:t> The main tab shows an FP ratio per scenario and month, with a colour on each cell.</a:t>
            </a:r>
            <a:endParaRPr lang="en-US" sz="1500" dirty="0"/>
          </a:p>
        </p:txBody>
      </p:sp>
      <p:sp>
        <p:nvSpPr>
          <p:cNvPr id="10" name="Shape 8"/>
          <p:cNvSpPr/>
          <p:nvPr/>
        </p:nvSpPr>
        <p:spPr>
          <a:xfrm>
            <a:off x="6019800" y="1760141"/>
            <a:ext cx="5359400" cy="4386659"/>
          </a:xfrm>
          <a:prstGeom prst="rect">
            <a:avLst/>
          </a:prstGeom>
          <a:solidFill>
            <a:srgbClr val="FFFFFF"/>
          </a:solidFill>
          <a:ln/>
        </p:spPr>
      </p:sp>
      <p:sp>
        <p:nvSpPr>
          <p:cNvPr id="11" name="Shape 9"/>
          <p:cNvSpPr/>
          <p:nvPr/>
        </p:nvSpPr>
        <p:spPr>
          <a:xfrm>
            <a:off x="6019800" y="1779191"/>
            <a:ext cx="5359400" cy="0"/>
          </a:xfrm>
          <a:prstGeom prst="line">
            <a:avLst/>
          </a:prstGeom>
          <a:noFill/>
          <a:ln w="38100">
            <a:solidFill>
              <a:srgbClr val="B5542F"/>
            </a:solidFill>
            <a:prstDash val="solid"/>
          </a:ln>
        </p:spPr>
      </p:sp>
      <p:sp>
        <p:nvSpPr>
          <p:cNvPr id="12" name="Text 10"/>
          <p:cNvSpPr/>
          <p:nvPr/>
        </p:nvSpPr>
        <p:spPr>
          <a:xfrm>
            <a:off x="6299200" y="2077641"/>
            <a:ext cx="494461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What is not defined</a:t>
            </a:r>
            <a:endParaRPr lang="en-US" sz="1800" dirty="0"/>
          </a:p>
        </p:txBody>
      </p:sp>
      <p:sp>
        <p:nvSpPr>
          <p:cNvPr id="13" name="Text 11"/>
          <p:cNvSpPr/>
          <p:nvPr/>
        </p:nvSpPr>
        <p:spPr>
          <a:xfrm>
            <a:off x="6299200" y="2504331"/>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There are no documented thresholds. The colours come from expert judgement.</a:t>
            </a:r>
            <a:endParaRPr lang="en-US" sz="1500" dirty="0"/>
          </a:p>
        </p:txBody>
      </p:sp>
      <p:sp>
        <p:nvSpPr>
          <p:cNvPr id="14" name="Text 12"/>
          <p:cNvSpPr/>
          <p:nvPr/>
        </p:nvSpPr>
        <p:spPr>
          <a:xfrm>
            <a:off x="6299200" y="3190131"/>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There is no stated action when a scenario turns red or amber, and no uncertainty shown on the ratios.</a:t>
            </a:r>
            <a:endParaRPr lang="en-US" sz="1500" dirty="0"/>
          </a:p>
        </p:txBody>
      </p:sp>
      <p:sp>
        <p:nvSpPr>
          <p:cNvPr id="15" name="Text 13"/>
          <p:cNvSpPr/>
          <p:nvPr/>
        </p:nvSpPr>
        <p:spPr>
          <a:xfrm>
            <a:off x="6299200" y="3875931"/>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FP ratio = FP / (FP + TP), so it is the complement of precision.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CURRENT MONITORING · DASHBOARD</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The colours appear to follow an FP ratio band, but the bands are not written down</a:t>
            </a:r>
            <a:endParaRPr lang="en-US" sz="3800" dirty="0"/>
          </a:p>
        </p:txBody>
      </p:sp>
      <p:sp>
        <p:nvSpPr>
          <p:cNvPr id="4" name="Shape 2"/>
          <p:cNvSpPr/>
          <p:nvPr/>
        </p:nvSpPr>
        <p:spPr>
          <a:xfrm>
            <a:off x="812800" y="2290961"/>
            <a:ext cx="4851400" cy="711200"/>
          </a:xfrm>
          <a:prstGeom prst="rect">
            <a:avLst/>
          </a:prstGeom>
          <a:solidFill>
            <a:srgbClr val="FFFFFF"/>
          </a:solidFill>
          <a:ln/>
        </p:spPr>
      </p:sp>
      <p:sp>
        <p:nvSpPr>
          <p:cNvPr id="5" name="Shape 3"/>
          <p:cNvSpPr/>
          <p:nvPr/>
        </p:nvSpPr>
        <p:spPr>
          <a:xfrm>
            <a:off x="1041400" y="2468761"/>
            <a:ext cx="355600" cy="355600"/>
          </a:xfrm>
          <a:prstGeom prst="rect">
            <a:avLst/>
          </a:prstGeom>
          <a:solidFill>
            <a:srgbClr val="2E8B57"/>
          </a:solidFill>
          <a:ln/>
        </p:spPr>
      </p:sp>
      <p:sp>
        <p:nvSpPr>
          <p:cNvPr id="6" name="Text 4"/>
          <p:cNvSpPr/>
          <p:nvPr/>
        </p:nvSpPr>
        <p:spPr>
          <a:xfrm>
            <a:off x="1574800" y="2504331"/>
            <a:ext cx="370927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Arial" pitchFamily="34" charset="0"/>
                <a:ea typeface="Arial" pitchFamily="34" charset="-122"/>
                <a:cs typeface="Arial" pitchFamily="34" charset="-120"/>
              </a:rPr>
              <a:t>Green</a:t>
            </a:r>
            <a:r>
              <a:rPr lang="en-US" sz="1600" dirty="0">
                <a:solidFill>
                  <a:srgbClr val="16202E"/>
                </a:solidFill>
                <a:latin typeface="Arial" pitchFamily="34" charset="0"/>
                <a:ea typeface="Arial" pitchFamily="34" charset="-122"/>
                <a:cs typeface="Arial" pitchFamily="34" charset="-120"/>
              </a:rPr>
              <a:t> · FP ratio below about 93%</a:t>
            </a:r>
            <a:endParaRPr lang="en-US" sz="1600" dirty="0"/>
          </a:p>
        </p:txBody>
      </p:sp>
      <p:sp>
        <p:nvSpPr>
          <p:cNvPr id="7" name="Shape 5"/>
          <p:cNvSpPr/>
          <p:nvPr/>
        </p:nvSpPr>
        <p:spPr>
          <a:xfrm>
            <a:off x="812800" y="3129161"/>
            <a:ext cx="4851400" cy="711200"/>
          </a:xfrm>
          <a:prstGeom prst="rect">
            <a:avLst/>
          </a:prstGeom>
          <a:solidFill>
            <a:srgbClr val="FFFFFF"/>
          </a:solidFill>
          <a:ln/>
        </p:spPr>
      </p:sp>
      <p:sp>
        <p:nvSpPr>
          <p:cNvPr id="8" name="Shape 6"/>
          <p:cNvSpPr/>
          <p:nvPr/>
        </p:nvSpPr>
        <p:spPr>
          <a:xfrm>
            <a:off x="1041400" y="3306961"/>
            <a:ext cx="355600" cy="355600"/>
          </a:xfrm>
          <a:prstGeom prst="rect">
            <a:avLst/>
          </a:prstGeom>
          <a:solidFill>
            <a:srgbClr val="E0A526"/>
          </a:solidFill>
          <a:ln/>
        </p:spPr>
      </p:sp>
      <p:sp>
        <p:nvSpPr>
          <p:cNvPr id="9" name="Text 7"/>
          <p:cNvSpPr/>
          <p:nvPr/>
        </p:nvSpPr>
        <p:spPr>
          <a:xfrm>
            <a:off x="1574800" y="3342531"/>
            <a:ext cx="29819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Arial" pitchFamily="34" charset="0"/>
                <a:ea typeface="Arial" pitchFamily="34" charset="-122"/>
                <a:cs typeface="Arial" pitchFamily="34" charset="-120"/>
              </a:rPr>
              <a:t>Amber</a:t>
            </a:r>
            <a:r>
              <a:rPr lang="en-US" sz="1600" dirty="0">
                <a:solidFill>
                  <a:srgbClr val="16202E"/>
                </a:solidFill>
                <a:latin typeface="Arial" pitchFamily="34" charset="0"/>
                <a:ea typeface="Arial" pitchFamily="34" charset="-122"/>
                <a:cs typeface="Arial" pitchFamily="34" charset="-120"/>
              </a:rPr>
              <a:t> · about 93% to 99%</a:t>
            </a:r>
            <a:endParaRPr lang="en-US" sz="1600" dirty="0"/>
          </a:p>
        </p:txBody>
      </p:sp>
      <p:sp>
        <p:nvSpPr>
          <p:cNvPr id="10" name="Shape 8"/>
          <p:cNvSpPr/>
          <p:nvPr/>
        </p:nvSpPr>
        <p:spPr>
          <a:xfrm>
            <a:off x="812800" y="3967361"/>
            <a:ext cx="4851400" cy="711200"/>
          </a:xfrm>
          <a:prstGeom prst="rect">
            <a:avLst/>
          </a:prstGeom>
          <a:solidFill>
            <a:srgbClr val="FFFFFF"/>
          </a:solidFill>
          <a:ln/>
        </p:spPr>
      </p:sp>
      <p:sp>
        <p:nvSpPr>
          <p:cNvPr id="11" name="Shape 9"/>
          <p:cNvSpPr/>
          <p:nvPr/>
        </p:nvSpPr>
        <p:spPr>
          <a:xfrm>
            <a:off x="1041400" y="4145161"/>
            <a:ext cx="355600" cy="355600"/>
          </a:xfrm>
          <a:prstGeom prst="rect">
            <a:avLst/>
          </a:prstGeom>
          <a:solidFill>
            <a:srgbClr val="C0392B"/>
          </a:solidFill>
          <a:ln/>
        </p:spPr>
      </p:sp>
      <p:sp>
        <p:nvSpPr>
          <p:cNvPr id="12" name="Text 10"/>
          <p:cNvSpPr/>
          <p:nvPr/>
        </p:nvSpPr>
        <p:spPr>
          <a:xfrm>
            <a:off x="1574800" y="4180731"/>
            <a:ext cx="197893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Arial" pitchFamily="34" charset="0"/>
                <a:ea typeface="Arial" pitchFamily="34" charset="-122"/>
                <a:cs typeface="Arial" pitchFamily="34" charset="-120"/>
              </a:rPr>
              <a:t>Red</a:t>
            </a:r>
            <a:r>
              <a:rPr lang="en-US" sz="1600" dirty="0">
                <a:solidFill>
                  <a:srgbClr val="16202E"/>
                </a:solidFill>
                <a:latin typeface="Arial" pitchFamily="34" charset="0"/>
                <a:ea typeface="Arial" pitchFamily="34" charset="-122"/>
                <a:cs typeface="Arial" pitchFamily="34" charset="-120"/>
              </a:rPr>
              <a:t> · about 100%</a:t>
            </a:r>
            <a:endParaRPr lang="en-US" sz="1600" dirty="0"/>
          </a:p>
        </p:txBody>
      </p:sp>
      <p:sp>
        <p:nvSpPr>
          <p:cNvPr id="13" name="Text 11"/>
          <p:cNvSpPr/>
          <p:nvPr/>
        </p:nvSpPr>
        <p:spPr>
          <a:xfrm>
            <a:off x="812800" y="4805561"/>
            <a:ext cx="49969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5"/>
                </a:solidFill>
                <a:latin typeface="Arial" pitchFamily="34" charset="0"/>
                <a:ea typeface="Arial" pitchFamily="34" charset="-122"/>
                <a:cs typeface="Arial" pitchFamily="34" charset="-120"/>
              </a:rPr>
              <a:t>Cut-offs are our reading of the dashboard screenshot. Owners to confirm.</a:t>
            </a:r>
            <a:endParaRPr lang="en-US" sz="1200" dirty="0"/>
          </a:p>
        </p:txBody>
      </p:sp>
      <p:sp>
        <p:nvSpPr>
          <p:cNvPr id="14" name="Shape 12"/>
          <p:cNvSpPr/>
          <p:nvPr/>
        </p:nvSpPr>
        <p:spPr>
          <a:xfrm>
            <a:off x="5969000" y="2290961"/>
            <a:ext cx="5410200" cy="3855839"/>
          </a:xfrm>
          <a:prstGeom prst="rect">
            <a:avLst/>
          </a:prstGeom>
          <a:solidFill>
            <a:srgbClr val="FFFFFF"/>
          </a:solidFill>
          <a:ln/>
        </p:spPr>
      </p:sp>
      <p:sp>
        <p:nvSpPr>
          <p:cNvPr id="15" name="Text 13"/>
          <p:cNvSpPr/>
          <p:nvPr/>
        </p:nvSpPr>
        <p:spPr>
          <a:xfrm>
            <a:off x="6248400" y="2570361"/>
            <a:ext cx="499694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What this means in practice</a:t>
            </a:r>
            <a:endParaRPr lang="en-US" sz="1800" dirty="0"/>
          </a:p>
        </p:txBody>
      </p:sp>
      <p:sp>
        <p:nvSpPr>
          <p:cNvPr id="16" name="Text 14"/>
          <p:cNvSpPr/>
          <p:nvPr/>
        </p:nvSpPr>
        <p:spPr>
          <a:xfrm>
            <a:off x="6248400" y="2997051"/>
            <a:ext cx="499694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Nearly all scenarios have a high FP ratio, so the colours separate very high from extremely high.</a:t>
            </a:r>
            <a:endParaRPr lang="en-US" sz="1500" dirty="0"/>
          </a:p>
        </p:txBody>
      </p:sp>
      <p:sp>
        <p:nvSpPr>
          <p:cNvPr id="17" name="Text 15"/>
          <p:cNvSpPr/>
          <p:nvPr/>
        </p:nvSpPr>
        <p:spPr>
          <a:xfrm>
            <a:off x="6248400" y="3682851"/>
            <a:ext cx="499694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A scenario with 3 alerts and 3 FPs is red, as is one with 3,000 alerts and 3,000 FPs. The colour says nothing about how much evidence sits behind it.</a:t>
            </a:r>
            <a:endParaRPr lang="en-US" sz="1500" dirty="0"/>
          </a:p>
        </p:txBody>
      </p:sp>
      <p:sp>
        <p:nvSpPr>
          <p:cNvPr id="18" name="Text 16"/>
          <p:cNvSpPr/>
          <p:nvPr/>
        </p:nvSpPr>
        <p:spPr>
          <a:xfrm>
            <a:off x="6248400" y="4635351"/>
            <a:ext cx="499694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 ratio is shown alone, without volume, TP count or interval.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FC1D6"/>
                </a:solidFill>
                <a:latin typeface="Arial" pitchFamily="34" charset="0"/>
                <a:ea typeface="Arial" pitchFamily="34" charset="-122"/>
                <a:cs typeface="Arial" pitchFamily="34" charset="-120"/>
              </a:rPr>
              <a:t>FINDINGS</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2F5F8"/>
                </a:solidFill>
                <a:latin typeface="Georgia" pitchFamily="18" charset="0"/>
                <a:ea typeface="Georgia" pitchFamily="18" charset="-122"/>
                <a:cs typeface="Georgia" pitchFamily="18" charset="-120"/>
              </a:rPr>
              <a:t>Four deficiencies limit what the monitoring can show</a:t>
            </a:r>
            <a:endParaRPr lang="en-US" sz="3800" dirty="0"/>
          </a:p>
        </p:txBody>
      </p:sp>
      <p:sp>
        <p:nvSpPr>
          <p:cNvPr id="4" name="Shape 2"/>
          <p:cNvSpPr/>
          <p:nvPr/>
        </p:nvSpPr>
        <p:spPr>
          <a:xfrm>
            <a:off x="812800" y="2290961"/>
            <a:ext cx="5181600" cy="1959670"/>
          </a:xfrm>
          <a:prstGeom prst="rect">
            <a:avLst/>
          </a:prstGeom>
          <a:solidFill>
            <a:srgbClr val="1F2D40"/>
          </a:solidFill>
          <a:ln/>
        </p:spPr>
      </p:sp>
      <p:sp>
        <p:nvSpPr>
          <p:cNvPr id="5" name="Shape 3"/>
          <p:cNvSpPr/>
          <p:nvPr/>
        </p:nvSpPr>
        <p:spPr>
          <a:xfrm>
            <a:off x="831850" y="2290961"/>
            <a:ext cx="0" cy="1959670"/>
          </a:xfrm>
          <a:prstGeom prst="line">
            <a:avLst/>
          </a:prstGeom>
          <a:noFill/>
          <a:ln w="38100">
            <a:solidFill>
              <a:srgbClr val="E0A526"/>
            </a:solidFill>
            <a:prstDash val="solid"/>
          </a:ln>
        </p:spPr>
      </p:sp>
      <p:sp>
        <p:nvSpPr>
          <p:cNvPr id="6" name="Text 4"/>
          <p:cNvSpPr/>
          <p:nvPr/>
        </p:nvSpPr>
        <p:spPr>
          <a:xfrm>
            <a:off x="1104900" y="2544961"/>
            <a:ext cx="47745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C1D6"/>
                </a:solidFill>
                <a:latin typeface="Arial" pitchFamily="34" charset="0"/>
                <a:ea typeface="Arial" pitchFamily="34" charset="-122"/>
                <a:cs typeface="Arial" pitchFamily="34" charset="-120"/>
              </a:rPr>
              <a:t>1 · Wrong denominator</a:t>
            </a:r>
            <a:endParaRPr lang="en-US" sz="1400" dirty="0"/>
          </a:p>
        </p:txBody>
      </p:sp>
      <p:sp>
        <p:nvSpPr>
          <p:cNvPr id="7" name="Text 5"/>
          <p:cNvSpPr/>
          <p:nvPr/>
        </p:nvSpPr>
        <p:spPr>
          <a:xfrm>
            <a:off x="1104900" y="2793851"/>
            <a:ext cx="47745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Arial" pitchFamily="34" charset="0"/>
                <a:ea typeface="Arial" pitchFamily="34" charset="-122"/>
                <a:cs typeface="Arial" pitchFamily="34" charset="-120"/>
              </a:rPr>
              <a:t>The false positive rate is not calculated over total payments screened, so it cannot be compared with the impact on customers.</a:t>
            </a:r>
            <a:endParaRPr lang="en-US" sz="1500" dirty="0"/>
          </a:p>
        </p:txBody>
      </p:sp>
      <p:sp>
        <p:nvSpPr>
          <p:cNvPr id="8" name="Shape 6"/>
          <p:cNvSpPr/>
          <p:nvPr/>
        </p:nvSpPr>
        <p:spPr>
          <a:xfrm>
            <a:off x="6197600" y="2290961"/>
            <a:ext cx="5181600" cy="1959670"/>
          </a:xfrm>
          <a:prstGeom prst="rect">
            <a:avLst/>
          </a:prstGeom>
          <a:solidFill>
            <a:srgbClr val="1F2D40"/>
          </a:solidFill>
          <a:ln/>
        </p:spPr>
      </p:sp>
      <p:sp>
        <p:nvSpPr>
          <p:cNvPr id="9" name="Shape 7"/>
          <p:cNvSpPr/>
          <p:nvPr/>
        </p:nvSpPr>
        <p:spPr>
          <a:xfrm>
            <a:off x="6216650" y="2290961"/>
            <a:ext cx="0" cy="1959670"/>
          </a:xfrm>
          <a:prstGeom prst="line">
            <a:avLst/>
          </a:prstGeom>
          <a:noFill/>
          <a:ln w="38100">
            <a:solidFill>
              <a:srgbClr val="E0A526"/>
            </a:solidFill>
            <a:prstDash val="solid"/>
          </a:ln>
        </p:spPr>
      </p:sp>
      <p:sp>
        <p:nvSpPr>
          <p:cNvPr id="10" name="Text 8"/>
          <p:cNvSpPr/>
          <p:nvPr/>
        </p:nvSpPr>
        <p:spPr>
          <a:xfrm>
            <a:off x="6489700" y="2544961"/>
            <a:ext cx="47745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C1D6"/>
                </a:solidFill>
                <a:latin typeface="Arial" pitchFamily="34" charset="0"/>
                <a:ea typeface="Arial" pitchFamily="34" charset="-122"/>
                <a:cs typeface="Arial" pitchFamily="34" charset="-120"/>
              </a:rPr>
              <a:t>2 · Reporting lag</a:t>
            </a:r>
            <a:endParaRPr lang="en-US" sz="1400" dirty="0"/>
          </a:p>
        </p:txBody>
      </p:sp>
      <p:sp>
        <p:nvSpPr>
          <p:cNvPr id="11" name="Text 9"/>
          <p:cNvSpPr/>
          <p:nvPr/>
        </p:nvSpPr>
        <p:spPr>
          <a:xfrm>
            <a:off x="6489700" y="2793851"/>
            <a:ext cx="4774565"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Arial" pitchFamily="34" charset="0"/>
                <a:ea typeface="Arial" pitchFamily="34" charset="-122"/>
                <a:cs typeface="Arial" pitchFamily="34" charset="-120"/>
              </a:rPr>
              <a:t>Precision falls in the most recent months, which may reflect reporting lag, as recent months hold only closed cases, rather than worse performance. To be confirmed.</a:t>
            </a:r>
            <a:endParaRPr lang="en-US" sz="1500" dirty="0"/>
          </a:p>
        </p:txBody>
      </p:sp>
      <p:sp>
        <p:nvSpPr>
          <p:cNvPr id="12" name="Shape 10"/>
          <p:cNvSpPr/>
          <p:nvPr/>
        </p:nvSpPr>
        <p:spPr>
          <a:xfrm>
            <a:off x="812800" y="4453830"/>
            <a:ext cx="5181600" cy="1692970"/>
          </a:xfrm>
          <a:prstGeom prst="rect">
            <a:avLst/>
          </a:prstGeom>
          <a:solidFill>
            <a:srgbClr val="1F2D40"/>
          </a:solidFill>
          <a:ln/>
        </p:spPr>
      </p:sp>
      <p:sp>
        <p:nvSpPr>
          <p:cNvPr id="13" name="Shape 11"/>
          <p:cNvSpPr/>
          <p:nvPr/>
        </p:nvSpPr>
        <p:spPr>
          <a:xfrm>
            <a:off x="831850" y="4453830"/>
            <a:ext cx="0" cy="1692970"/>
          </a:xfrm>
          <a:prstGeom prst="line">
            <a:avLst/>
          </a:prstGeom>
          <a:noFill/>
          <a:ln w="38100">
            <a:solidFill>
              <a:srgbClr val="E0A526"/>
            </a:solidFill>
            <a:prstDash val="solid"/>
          </a:ln>
        </p:spPr>
      </p:sp>
      <p:sp>
        <p:nvSpPr>
          <p:cNvPr id="14" name="Text 12"/>
          <p:cNvSpPr/>
          <p:nvPr/>
        </p:nvSpPr>
        <p:spPr>
          <a:xfrm>
            <a:off x="1104900" y="4707830"/>
            <a:ext cx="47745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C1D6"/>
                </a:solidFill>
                <a:latin typeface="Arial" pitchFamily="34" charset="0"/>
                <a:ea typeface="Arial" pitchFamily="34" charset="-122"/>
                <a:cs typeface="Arial" pitchFamily="34" charset="-120"/>
              </a:rPr>
              <a:t>3 · NULL time frame</a:t>
            </a:r>
            <a:endParaRPr lang="en-US" sz="1400" dirty="0"/>
          </a:p>
        </p:txBody>
      </p:sp>
      <p:sp>
        <p:nvSpPr>
          <p:cNvPr id="15" name="Text 13"/>
          <p:cNvSpPr/>
          <p:nvPr/>
        </p:nvSpPr>
        <p:spPr>
          <a:xfrm>
            <a:off x="1104900" y="4956721"/>
            <a:ext cx="47745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Arial" pitchFamily="34" charset="0"/>
                <a:ea typeface="Arial" pitchFamily="34" charset="-122"/>
                <a:cs typeface="Arial" pitchFamily="34" charset="-120"/>
              </a:rPr>
              <a:t>The SQL joins hits to the last 3 months of transactions, so some hits have no time frame and drop out of the monthly view.</a:t>
            </a:r>
            <a:endParaRPr lang="en-US" sz="1500" dirty="0"/>
          </a:p>
        </p:txBody>
      </p:sp>
      <p:sp>
        <p:nvSpPr>
          <p:cNvPr id="16" name="Shape 14"/>
          <p:cNvSpPr/>
          <p:nvPr/>
        </p:nvSpPr>
        <p:spPr>
          <a:xfrm>
            <a:off x="6197600" y="4453830"/>
            <a:ext cx="5181600" cy="1692970"/>
          </a:xfrm>
          <a:prstGeom prst="rect">
            <a:avLst/>
          </a:prstGeom>
          <a:solidFill>
            <a:srgbClr val="1F2D40"/>
          </a:solidFill>
          <a:ln/>
        </p:spPr>
      </p:sp>
      <p:sp>
        <p:nvSpPr>
          <p:cNvPr id="17" name="Shape 15"/>
          <p:cNvSpPr/>
          <p:nvPr/>
        </p:nvSpPr>
        <p:spPr>
          <a:xfrm>
            <a:off x="6216650" y="4453830"/>
            <a:ext cx="0" cy="1692970"/>
          </a:xfrm>
          <a:prstGeom prst="line">
            <a:avLst/>
          </a:prstGeom>
          <a:noFill/>
          <a:ln w="38100">
            <a:solidFill>
              <a:srgbClr val="E0A526"/>
            </a:solidFill>
            <a:prstDash val="solid"/>
          </a:ln>
        </p:spPr>
      </p:sp>
      <p:sp>
        <p:nvSpPr>
          <p:cNvPr id="18" name="Text 16"/>
          <p:cNvSpPr/>
          <p:nvPr/>
        </p:nvSpPr>
        <p:spPr>
          <a:xfrm>
            <a:off x="6489700" y="4707830"/>
            <a:ext cx="47745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C1D6"/>
                </a:solidFill>
                <a:latin typeface="Arial" pitchFamily="34" charset="0"/>
                <a:ea typeface="Arial" pitchFamily="34" charset="-122"/>
                <a:cs typeface="Arial" pitchFamily="34" charset="-120"/>
              </a:rPr>
              <a:t>4 · No false negatives</a:t>
            </a:r>
            <a:endParaRPr lang="en-US" sz="1400" dirty="0"/>
          </a:p>
        </p:txBody>
      </p:sp>
      <p:sp>
        <p:nvSpPr>
          <p:cNvPr id="19" name="Text 17"/>
          <p:cNvSpPr/>
          <p:nvPr/>
        </p:nvSpPr>
        <p:spPr>
          <a:xfrm>
            <a:off x="6489700" y="4956721"/>
            <a:ext cx="47745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Arial" pitchFamily="34" charset="0"/>
                <a:ea typeface="Arial" pitchFamily="34" charset="-122"/>
                <a:cs typeface="Arial" pitchFamily="34" charset="-120"/>
              </a:rPr>
              <a:t>The bi-weekly data holds alerts only, so recall cannot be measured by scenario. FraudSTATS records false negatives, but only in total.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FINDINGS · NULL TIME FRAME</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Some hits have no time frame, and we do not know whether they are TP or FP</a:t>
            </a:r>
            <a:endParaRPr lang="en-US" sz="3800" dirty="0"/>
          </a:p>
        </p:txBody>
      </p:sp>
      <p:sp>
        <p:nvSpPr>
          <p:cNvPr id="4" name="Shape 2"/>
          <p:cNvSpPr/>
          <p:nvPr/>
        </p:nvSpPr>
        <p:spPr>
          <a:xfrm>
            <a:off x="812800" y="2290961"/>
            <a:ext cx="5130800" cy="3284339"/>
          </a:xfrm>
          <a:prstGeom prst="rect">
            <a:avLst/>
          </a:prstGeom>
          <a:solidFill>
            <a:srgbClr val="FFFFFF"/>
          </a:solidFill>
          <a:ln/>
        </p:spPr>
      </p:sp>
      <p:sp>
        <p:nvSpPr>
          <p:cNvPr id="5" name="Text 3"/>
          <p:cNvSpPr/>
          <p:nvPr/>
        </p:nvSpPr>
        <p:spPr>
          <a:xfrm>
            <a:off x="10922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Why it happens</a:t>
            </a:r>
            <a:endParaRPr lang="en-US" sz="1800" dirty="0"/>
          </a:p>
        </p:txBody>
      </p:sp>
      <p:sp>
        <p:nvSpPr>
          <p:cNvPr id="6" name="Text 4"/>
          <p:cNvSpPr/>
          <p:nvPr/>
        </p:nvSpPr>
        <p:spPr>
          <a:xfrm>
            <a:off x="1092200" y="29843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 query takes hits with a case status in the last 3 months, then left-joins the last 3 months of transaction data.</a:t>
            </a:r>
            <a:endParaRPr lang="en-US" sz="1500" dirty="0"/>
          </a:p>
        </p:txBody>
      </p:sp>
      <p:sp>
        <p:nvSpPr>
          <p:cNvPr id="7" name="Text 5"/>
          <p:cNvSpPr/>
          <p:nvPr/>
        </p:nvSpPr>
        <p:spPr>
          <a:xfrm>
            <a:off x="1092200" y="39241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A hit whose transaction falls outside that window finds no match and comes through with a NULL time frame.</a:t>
            </a:r>
            <a:endParaRPr lang="en-US" sz="1500" dirty="0"/>
          </a:p>
        </p:txBody>
      </p:sp>
      <p:sp>
        <p:nvSpPr>
          <p:cNvPr id="8" name="Shape 6"/>
          <p:cNvSpPr/>
          <p:nvPr/>
        </p:nvSpPr>
        <p:spPr>
          <a:xfrm>
            <a:off x="6248400" y="2290961"/>
            <a:ext cx="5130800" cy="3284339"/>
          </a:xfrm>
          <a:prstGeom prst="rect">
            <a:avLst/>
          </a:prstGeom>
          <a:solidFill>
            <a:srgbClr val="FFFFFF"/>
          </a:solidFill>
          <a:ln/>
        </p:spPr>
      </p:sp>
      <p:sp>
        <p:nvSpPr>
          <p:cNvPr id="9" name="Shape 7"/>
          <p:cNvSpPr/>
          <p:nvPr/>
        </p:nvSpPr>
        <p:spPr>
          <a:xfrm>
            <a:off x="6248400" y="2310011"/>
            <a:ext cx="5130800" cy="0"/>
          </a:xfrm>
          <a:prstGeom prst="line">
            <a:avLst/>
          </a:prstGeom>
          <a:noFill/>
          <a:ln w="38100">
            <a:solidFill>
              <a:srgbClr val="B5542F"/>
            </a:solidFill>
            <a:prstDash val="solid"/>
          </a:ln>
        </p:spPr>
      </p:sp>
      <p:sp>
        <p:nvSpPr>
          <p:cNvPr id="10" name="Text 8"/>
          <p:cNvSpPr/>
          <p:nvPr/>
        </p:nvSpPr>
        <p:spPr>
          <a:xfrm>
            <a:off x="6527800" y="26084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Why it matters</a:t>
            </a:r>
            <a:endParaRPr lang="en-US" sz="1800" dirty="0"/>
          </a:p>
        </p:txBody>
      </p:sp>
      <p:sp>
        <p:nvSpPr>
          <p:cNvPr id="11" name="Text 9"/>
          <p:cNvSpPr/>
          <p:nvPr/>
        </p:nvSpPr>
        <p:spPr>
          <a:xfrm>
            <a:off x="6527800" y="30224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These rows are left out of the monthly precision. If they are late-confirmed fraud, the TP count is understated.</a:t>
            </a:r>
            <a:endParaRPr lang="en-US" sz="1500" dirty="0"/>
          </a:p>
        </p:txBody>
      </p:sp>
      <p:sp>
        <p:nvSpPr>
          <p:cNvPr id="12" name="Text 10"/>
          <p:cNvSpPr/>
          <p:nvPr/>
        </p:nvSpPr>
        <p:spPr>
          <a:xfrm>
            <a:off x="6527800" y="39622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 NULL rows we saw were labelled FP, which would push the other way. We need the TP and FP mix from the owners.</a:t>
            </a:r>
            <a:endParaRPr lang="en-US" sz="1500" dirty="0"/>
          </a:p>
        </p:txBody>
      </p:sp>
      <p:sp>
        <p:nvSpPr>
          <p:cNvPr id="13" name="Shape 11"/>
          <p:cNvSpPr/>
          <p:nvPr/>
        </p:nvSpPr>
        <p:spPr>
          <a:xfrm>
            <a:off x="831850" y="5880100"/>
            <a:ext cx="0" cy="266700"/>
          </a:xfrm>
          <a:prstGeom prst="line">
            <a:avLst/>
          </a:prstGeom>
          <a:noFill/>
          <a:ln w="38100">
            <a:solidFill>
              <a:srgbClr val="2B7A93"/>
            </a:solidFill>
            <a:prstDash val="solid"/>
          </a:ln>
        </p:spPr>
      </p:sp>
      <p:sp>
        <p:nvSpPr>
          <p:cNvPr id="14" name="Text 12"/>
          <p:cNvSpPr/>
          <p:nvPr/>
        </p:nvSpPr>
        <p:spPr>
          <a:xfrm>
            <a:off x="1028700" y="5880100"/>
            <a:ext cx="1066101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Arial" pitchFamily="34" charset="0"/>
                <a:ea typeface="Arial" pitchFamily="34" charset="-122"/>
                <a:cs typeface="Arial" pitchFamily="34" charset="-120"/>
              </a:rPr>
              <a:t>Ask: how many NULL rows are there, what share of all alerts do they represent, and how do they split into TP and FP?</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FINDINGS · FRAUDSTATS REPORT</a:t>
            </a:r>
            <a:endParaRPr lang="en-US" sz="1200" dirty="0"/>
          </a:p>
        </p:txBody>
      </p:sp>
      <p:sp>
        <p:nvSpPr>
          <p:cNvPr id="3" name="Text 1"/>
          <p:cNvSpPr/>
          <p:nvPr>
            <p:ph type="title"/>
          </p:nvPr>
        </p:nvSpPr>
        <p:spPr>
          <a:xfrm>
            <a:off x="812800" y="82292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0" i="0" dirty="0">
                <a:solidFill>
                  <a:srgbClr val="16202E"/>
                </a:solidFill>
                <a:latin typeface="Georgia" pitchFamily="18" charset="0"/>
                <a:ea typeface="Georgia" pitchFamily="18" charset="-122"/>
                <a:cs typeface="Georgia" pitchFamily="18" charset="-120"/>
              </a:rPr>
              <a:t>A second report covers all payments, but it cannot be reconciled with the bi-weekly monitoring</a:t>
            </a:r>
            <a:endParaRPr lang="en-US" sz="3000" dirty="0"/>
          </a:p>
        </p:txBody>
      </p:sp>
      <p:sp>
        <p:nvSpPr>
          <p:cNvPr id="4" name="Shape 2"/>
          <p:cNvSpPr/>
          <p:nvPr/>
        </p:nvSpPr>
        <p:spPr>
          <a:xfrm>
            <a:off x="812800" y="1864320"/>
            <a:ext cx="3120380" cy="4384080"/>
          </a:xfrm>
          <a:prstGeom prst="rect">
            <a:avLst/>
          </a:prstGeom>
          <a:solidFill>
            <a:srgbClr val="FFFFFF"/>
          </a:solidFill>
          <a:ln/>
        </p:spPr>
      </p:sp>
      <p:sp>
        <p:nvSpPr>
          <p:cNvPr id="5" name="Shape 3"/>
          <p:cNvSpPr/>
          <p:nvPr/>
        </p:nvSpPr>
        <p:spPr>
          <a:xfrm>
            <a:off x="812800" y="1883370"/>
            <a:ext cx="3120380" cy="0"/>
          </a:xfrm>
          <a:prstGeom prst="line">
            <a:avLst/>
          </a:prstGeom>
          <a:noFill/>
          <a:ln w="38100">
            <a:solidFill>
              <a:srgbClr val="2B7A93"/>
            </a:solidFill>
            <a:prstDash val="solid"/>
          </a:ln>
        </p:spPr>
      </p:sp>
      <p:sp>
        <p:nvSpPr>
          <p:cNvPr id="6" name="Text 4"/>
          <p:cNvSpPr/>
          <p:nvPr/>
        </p:nvSpPr>
        <p:spPr>
          <a:xfrm>
            <a:off x="1041400" y="2131020"/>
            <a:ext cx="27430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Arial" pitchFamily="34" charset="0"/>
                <a:ea typeface="Arial" pitchFamily="34" charset="-122"/>
                <a:cs typeface="Arial" pitchFamily="34" charset="-120"/>
              </a:rPr>
              <a:t>What it holds</a:t>
            </a:r>
            <a:endParaRPr lang="en-US" sz="1600" dirty="0"/>
          </a:p>
        </p:txBody>
      </p:sp>
      <p:sp>
        <p:nvSpPr>
          <p:cNvPr id="7" name="Text 5"/>
          <p:cNvSpPr/>
          <p:nvPr/>
        </p:nvSpPr>
        <p:spPr>
          <a:xfrm>
            <a:off x="1041400" y="2463750"/>
            <a:ext cx="2743075"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ROVASTATS_Volume:</a:t>
            </a:r>
            <a:r>
              <a:rPr lang="en-US" sz="1300" dirty="0">
                <a:solidFill>
                  <a:srgbClr val="3A4756"/>
                </a:solidFill>
                <a:latin typeface="Arial" pitchFamily="34" charset="0"/>
                <a:ea typeface="Arial" pitchFamily="34" charset="-122"/>
                <a:cs typeface="Arial" pitchFamily="34" charset="-120"/>
              </a:rPr>
              <a:t> monthly FN, FP, TN and TP by Corp and Priv, with FPR, TPR and a precision rate.</a:t>
            </a:r>
            <a:endParaRPr lang="en-US" sz="1300" dirty="0"/>
          </a:p>
        </p:txBody>
      </p:sp>
      <p:sp>
        <p:nvSpPr>
          <p:cNvPr id="8" name="Text 6"/>
          <p:cNvSpPr/>
          <p:nvPr/>
        </p:nvSpPr>
        <p:spPr>
          <a:xfrm>
            <a:off x="1041400" y="3196481"/>
            <a:ext cx="2743075"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Rates tabs:</a:t>
            </a:r>
            <a:r>
              <a:rPr lang="en-US" sz="1300" dirty="0">
                <a:solidFill>
                  <a:srgbClr val="3A4756"/>
                </a:solidFill>
                <a:latin typeface="Arial" pitchFamily="34" charset="0"/>
                <a:ea typeface="Arial" pitchFamily="34" charset="-122"/>
                <a:cs typeface="Arial" pitchFamily="34" charset="-120"/>
              </a:rPr>
              <a:t> payment and fraud counts and values by payment type, customer type and value band.</a:t>
            </a:r>
            <a:endParaRPr lang="en-US" sz="1300" dirty="0"/>
          </a:p>
        </p:txBody>
      </p:sp>
      <p:sp>
        <p:nvSpPr>
          <p:cNvPr id="9" name="Text 7"/>
          <p:cNvSpPr/>
          <p:nvPr/>
        </p:nvSpPr>
        <p:spPr>
          <a:xfrm>
            <a:off x="1041400" y="3929211"/>
            <a:ext cx="2743075"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DailyRates:</a:t>
            </a:r>
            <a:r>
              <a:rPr lang="en-US" sz="1300" dirty="0">
                <a:solidFill>
                  <a:srgbClr val="3A4756"/>
                </a:solidFill>
                <a:latin typeface="Arial" pitchFamily="34" charset="0"/>
                <a:ea typeface="Arial" pitchFamily="34" charset="-122"/>
                <a:cs typeface="Arial" pitchFamily="34" charset="-120"/>
              </a:rPr>
              <a:t> fraud loss in a window divided by its calendar days. It looks like a rate per day, not daily data.</a:t>
            </a:r>
            <a:endParaRPr lang="en-US" sz="1300" dirty="0"/>
          </a:p>
        </p:txBody>
      </p:sp>
      <p:sp>
        <p:nvSpPr>
          <p:cNvPr id="10" name="Shape 8"/>
          <p:cNvSpPr/>
          <p:nvPr/>
        </p:nvSpPr>
        <p:spPr>
          <a:xfrm>
            <a:off x="4136380" y="1864320"/>
            <a:ext cx="3919289" cy="4384080"/>
          </a:xfrm>
          <a:prstGeom prst="rect">
            <a:avLst/>
          </a:prstGeom>
          <a:solidFill>
            <a:srgbClr val="FFFFFF"/>
          </a:solidFill>
          <a:ln/>
        </p:spPr>
      </p:sp>
      <p:sp>
        <p:nvSpPr>
          <p:cNvPr id="11" name="Shape 9"/>
          <p:cNvSpPr/>
          <p:nvPr/>
        </p:nvSpPr>
        <p:spPr>
          <a:xfrm>
            <a:off x="4136380" y="1883370"/>
            <a:ext cx="3919289" cy="0"/>
          </a:xfrm>
          <a:prstGeom prst="line">
            <a:avLst/>
          </a:prstGeom>
          <a:noFill/>
          <a:ln w="38100">
            <a:solidFill>
              <a:srgbClr val="B5542F"/>
            </a:solidFill>
            <a:prstDash val="solid"/>
          </a:ln>
        </p:spPr>
      </p:sp>
      <p:sp>
        <p:nvSpPr>
          <p:cNvPr id="12" name="Text 10"/>
          <p:cNvSpPr/>
          <p:nvPr/>
        </p:nvSpPr>
        <p:spPr>
          <a:xfrm>
            <a:off x="4364980" y="2131020"/>
            <a:ext cx="35659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Arial" pitchFamily="34" charset="0"/>
                <a:ea typeface="Arial" pitchFamily="34" charset="-122"/>
                <a:cs typeface="Arial" pitchFamily="34" charset="-120"/>
              </a:rPr>
              <a:t>Deficiencies found</a:t>
            </a:r>
            <a:endParaRPr lang="en-US" sz="1600" dirty="0"/>
          </a:p>
        </p:txBody>
      </p:sp>
      <p:sp>
        <p:nvSpPr>
          <p:cNvPr id="13" name="Text 11"/>
          <p:cNvSpPr/>
          <p:nvPr/>
        </p:nvSpPr>
        <p:spPr>
          <a:xfrm>
            <a:off x="4364980" y="2463750"/>
            <a:ext cx="3565952"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No link to scenarios.</a:t>
            </a:r>
            <a:r>
              <a:rPr lang="en-US" sz="1300" dirty="0">
                <a:solidFill>
                  <a:srgbClr val="3A4756"/>
                </a:solidFill>
                <a:latin typeface="Arial" pitchFamily="34" charset="0"/>
                <a:ea typeface="Arial" pitchFamily="34" charset="-122"/>
                <a:cs typeface="Arial" pitchFamily="34" charset="-120"/>
              </a:rPr>
              <a:t> It is split by customer and payment type, so it does not map to the Rule Pivot.</a:t>
            </a:r>
            <a:endParaRPr lang="en-US" sz="1300" dirty="0"/>
          </a:p>
        </p:txBody>
      </p:sp>
      <p:sp>
        <p:nvSpPr>
          <p:cNvPr id="14" name="Text 12"/>
          <p:cNvSpPr/>
          <p:nvPr/>
        </p:nvSpPr>
        <p:spPr>
          <a:xfrm>
            <a:off x="4364980" y="3196481"/>
            <a:ext cx="3565952"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Counts differ.</a:t>
            </a:r>
            <a:r>
              <a:rPr lang="en-US" sz="1300" dirty="0">
                <a:solidFill>
                  <a:srgbClr val="3A4756"/>
                </a:solidFill>
                <a:latin typeface="Arial" pitchFamily="34" charset="0"/>
                <a:ea typeface="Arial" pitchFamily="34" charset="-122"/>
                <a:cs typeface="Arial" pitchFamily="34" charset="-120"/>
              </a:rPr>
              <a:t> September shows 17 fraud payments in ROVASTATS but 5 in the first Rates_all block, if that block is September.</a:t>
            </a:r>
            <a:endParaRPr lang="en-US" sz="1300" dirty="0"/>
          </a:p>
        </p:txBody>
      </p:sp>
      <p:sp>
        <p:nvSpPr>
          <p:cNvPr id="15" name="Text 13"/>
          <p:cNvSpPr/>
          <p:nvPr/>
        </p:nvSpPr>
        <p:spPr>
          <a:xfrm>
            <a:off x="4364980" y="3929211"/>
            <a:ext cx="3565952"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Labels unclear.</a:t>
            </a:r>
            <a:r>
              <a:rPr lang="en-US" sz="1300" dirty="0">
                <a:solidFill>
                  <a:srgbClr val="3A4756"/>
                </a:solidFill>
                <a:latin typeface="Arial" pitchFamily="34" charset="0"/>
                <a:ea typeface="Arial" pitchFamily="34" charset="-122"/>
                <a:cs typeface="Arial" pitchFamily="34" charset="-120"/>
              </a:rPr>
              <a:t> Windows and scope are not stated, and "ACC %" equals TP / (TP + FP), which is precision.</a:t>
            </a:r>
            <a:endParaRPr lang="en-US" sz="1300" dirty="0"/>
          </a:p>
        </p:txBody>
      </p:sp>
      <p:sp>
        <p:nvSpPr>
          <p:cNvPr id="16" name="Text 14"/>
          <p:cNvSpPr/>
          <p:nvPr/>
        </p:nvSpPr>
        <p:spPr>
          <a:xfrm>
            <a:off x="4364980" y="4661942"/>
            <a:ext cx="3565952"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Fragile recent figures.</a:t>
            </a:r>
            <a:r>
              <a:rPr lang="en-US" sz="1300" dirty="0">
                <a:solidFill>
                  <a:srgbClr val="3A4756"/>
                </a:solidFill>
                <a:latin typeface="Arial" pitchFamily="34" charset="0"/>
                <a:ea typeface="Arial" pitchFamily="34" charset="-122"/>
                <a:cs typeface="Arial" pitchFamily="34" charset="-120"/>
              </a:rPr>
              <a:t> Corp has 0–1 TP a month. Priv FNs fall 17, 9, 3 while TPR rises 19%, 40%, 82%, which fits late FN recording.</a:t>
            </a:r>
            <a:endParaRPr lang="en-US" sz="1300" dirty="0"/>
          </a:p>
        </p:txBody>
      </p:sp>
      <p:sp>
        <p:nvSpPr>
          <p:cNvPr id="17" name="Shape 15"/>
          <p:cNvSpPr/>
          <p:nvPr/>
        </p:nvSpPr>
        <p:spPr>
          <a:xfrm>
            <a:off x="8258870" y="1864320"/>
            <a:ext cx="3120330" cy="4384080"/>
          </a:xfrm>
          <a:prstGeom prst="rect">
            <a:avLst/>
          </a:prstGeom>
          <a:solidFill>
            <a:srgbClr val="FFFFFF"/>
          </a:solidFill>
          <a:ln/>
        </p:spPr>
      </p:sp>
      <p:sp>
        <p:nvSpPr>
          <p:cNvPr id="18" name="Shape 16"/>
          <p:cNvSpPr/>
          <p:nvPr/>
        </p:nvSpPr>
        <p:spPr>
          <a:xfrm>
            <a:off x="8258870" y="1883370"/>
            <a:ext cx="3120330" cy="0"/>
          </a:xfrm>
          <a:prstGeom prst="line">
            <a:avLst/>
          </a:prstGeom>
          <a:noFill/>
          <a:ln w="38100">
            <a:solidFill>
              <a:srgbClr val="2E8B57"/>
            </a:solidFill>
            <a:prstDash val="solid"/>
          </a:ln>
        </p:spPr>
      </p:sp>
      <p:sp>
        <p:nvSpPr>
          <p:cNvPr id="19" name="Text 17"/>
          <p:cNvSpPr/>
          <p:nvPr/>
        </p:nvSpPr>
        <p:spPr>
          <a:xfrm>
            <a:off x="8487470" y="2131020"/>
            <a:ext cx="27430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Arial" pitchFamily="34" charset="0"/>
                <a:ea typeface="Arial" pitchFamily="34" charset="-122"/>
                <a:cs typeface="Arial" pitchFamily="34" charset="-120"/>
              </a:rPr>
              <a:t>What we could do</a:t>
            </a:r>
            <a:endParaRPr lang="en-US" sz="1600" dirty="0"/>
          </a:p>
        </p:txBody>
      </p:sp>
      <p:sp>
        <p:nvSpPr>
          <p:cNvPr id="20" name="Text 18"/>
          <p:cNvSpPr/>
          <p:nvPr/>
        </p:nvSpPr>
        <p:spPr>
          <a:xfrm>
            <a:off x="8487470" y="2463750"/>
            <a:ext cx="2743024" cy="88384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Reconcile totals.</a:t>
            </a:r>
            <a:r>
              <a:rPr lang="en-US" sz="1300" dirty="0">
                <a:solidFill>
                  <a:srgbClr val="3A4756"/>
                </a:solidFill>
                <a:latin typeface="Arial" pitchFamily="34" charset="0"/>
                <a:ea typeface="Arial" pitchFamily="34" charset="-122"/>
                <a:cs typeface="Arial" pitchFamily="34" charset="-120"/>
              </a:rPr>
              <a:t> Compare scenario TP and FP with ROVASTATS by month and customer type.</a:t>
            </a:r>
            <a:endParaRPr lang="en-US" sz="1300" dirty="0"/>
          </a:p>
        </p:txBody>
      </p:sp>
      <p:sp>
        <p:nvSpPr>
          <p:cNvPr id="21" name="Text 19"/>
          <p:cNvSpPr/>
          <p:nvPr/>
        </p:nvSpPr>
        <p:spPr>
          <a:xfrm>
            <a:off x="8487470" y="3411091"/>
            <a:ext cx="2743024"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Fix the denominator.</a:t>
            </a:r>
            <a:r>
              <a:rPr lang="en-US" sz="1300" dirty="0">
                <a:solidFill>
                  <a:srgbClr val="3A4756"/>
                </a:solidFill>
                <a:latin typeface="Arial" pitchFamily="34" charset="0"/>
                <a:ea typeface="Arial" pitchFamily="34" charset="-122"/>
                <a:cs typeface="Arial" pitchFamily="34" charset="-120"/>
              </a:rPr>
              <a:t> Use its TN to put the FPR over payments screened.</a:t>
            </a:r>
            <a:endParaRPr lang="en-US" sz="1300" dirty="0"/>
          </a:p>
        </p:txBody>
      </p:sp>
      <p:sp>
        <p:nvSpPr>
          <p:cNvPr id="22" name="Text 20"/>
          <p:cNvSpPr/>
          <p:nvPr/>
        </p:nvSpPr>
        <p:spPr>
          <a:xfrm>
            <a:off x="8487470" y="4143821"/>
            <a:ext cx="2743024"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Combine in the bi-weekly.</a:t>
            </a:r>
            <a:r>
              <a:rPr lang="en-US" sz="1300" dirty="0">
                <a:solidFill>
                  <a:srgbClr val="3A4756"/>
                </a:solidFill>
                <a:latin typeface="Arial" pitchFamily="34" charset="0"/>
                <a:ea typeface="Arial" pitchFamily="34" charset="-122"/>
                <a:cs typeface="Arial" pitchFamily="34" charset="-120"/>
              </a:rPr>
              <a:t> Add confirmed fraud and payments screened, so recall is by scenario.</a:t>
            </a:r>
            <a:endParaRPr lang="en-US" sz="1300" dirty="0"/>
          </a:p>
        </p:txBody>
      </p:sp>
      <p:sp>
        <p:nvSpPr>
          <p:cNvPr id="23" name="Text 21"/>
          <p:cNvSpPr/>
          <p:nvPr/>
        </p:nvSpPr>
        <p:spPr>
          <a:xfrm>
            <a:off x="8487470" y="4876552"/>
            <a:ext cx="2743024"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A4756"/>
                </a:solidFill>
                <a:latin typeface="Arial" pitchFamily="34" charset="0"/>
                <a:ea typeface="Arial" pitchFamily="34" charset="-122"/>
                <a:cs typeface="Arial" pitchFamily="34" charset="-120"/>
              </a:rPr>
              <a:t>Ask the owners</a:t>
            </a:r>
            <a:r>
              <a:rPr lang="en-US" sz="1300" dirty="0">
                <a:solidFill>
                  <a:srgbClr val="3A4756"/>
                </a:solidFill>
                <a:latin typeface="Arial" pitchFamily="34" charset="0"/>
                <a:ea typeface="Arial" pitchFamily="34" charset="-122"/>
                <a:cs typeface="Arial" pitchFamily="34" charset="-120"/>
              </a:rPr>
              <a:t> for each tab's SQL, windows and scope.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FINDINGS · REPORTING LAG</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Recent months may look worse because only closed cases are counted</a:t>
            </a:r>
            <a:endParaRPr lang="en-US" sz="3800" dirty="0"/>
          </a:p>
        </p:txBody>
      </p:sp>
      <p:sp>
        <p:nvSpPr>
          <p:cNvPr id="4" name="Text 2"/>
          <p:cNvSpPr/>
          <p:nvPr/>
        </p:nvSpPr>
        <p:spPr>
          <a:xfrm>
            <a:off x="812800" y="2290961"/>
            <a:ext cx="4996942"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02E"/>
                </a:solidFill>
                <a:latin typeface="Arial" pitchFamily="34" charset="0"/>
                <a:ea typeface="Arial" pitchFamily="34" charset="-122"/>
                <a:cs typeface="Arial" pitchFamily="34" charset="-120"/>
              </a:rPr>
              <a:t>Only closed cases are reported, so the newest months hold just the cases already closed. If FPs close faster than TPs, recent precision is understated, and recent alert counts are incomplete.</a:t>
            </a:r>
            <a:endParaRPr lang="en-US" sz="1600" dirty="0"/>
          </a:p>
        </p:txBody>
      </p:sp>
      <p:sp>
        <p:nvSpPr>
          <p:cNvPr id="5" name="Text 3"/>
          <p:cNvSpPr/>
          <p:nvPr/>
        </p:nvSpPr>
        <p:spPr>
          <a:xfrm>
            <a:off x="812800" y="3581202"/>
            <a:ext cx="499694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02E"/>
                </a:solidFill>
                <a:latin typeface="Arial" pitchFamily="34" charset="0"/>
                <a:ea typeface="Arial" pitchFamily="34" charset="-122"/>
                <a:cs typeface="Arial" pitchFamily="34" charset="-120"/>
              </a:rPr>
              <a:t>The month in progress (month 0) is partial and we exclude it from our comparisons.</a:t>
            </a:r>
            <a:endParaRPr lang="en-US" sz="1600" dirty="0"/>
          </a:p>
        </p:txBody>
      </p:sp>
      <p:sp>
        <p:nvSpPr>
          <p:cNvPr id="6" name="Text 4"/>
          <p:cNvSpPr/>
          <p:nvPr/>
        </p:nvSpPr>
        <p:spPr>
          <a:xfrm>
            <a:off x="812800" y="4302522"/>
            <a:ext cx="499694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02E"/>
                </a:solidFill>
                <a:latin typeface="Arial" pitchFamily="34" charset="0"/>
                <a:ea typeface="Arial" pitchFamily="34" charset="-122"/>
                <a:cs typeface="Arial" pitchFamily="34" charset="-120"/>
              </a:rPr>
              <a:t>Without an adjustment, a drop in precision cannot be read as a drop in performance.</a:t>
            </a:r>
            <a:endParaRPr lang="en-US" sz="1600" dirty="0"/>
          </a:p>
        </p:txBody>
      </p:sp>
      <p:sp>
        <p:nvSpPr>
          <p:cNvPr id="7" name="Shape 5"/>
          <p:cNvSpPr/>
          <p:nvPr/>
        </p:nvSpPr>
        <p:spPr>
          <a:xfrm>
            <a:off x="5969000" y="2290961"/>
            <a:ext cx="5410200" cy="3855839"/>
          </a:xfrm>
          <a:prstGeom prst="rect">
            <a:avLst/>
          </a:prstGeom>
          <a:solidFill>
            <a:srgbClr val="FFFFFF"/>
          </a:solidFill>
          <a:ln/>
        </p:spPr>
      </p:sp>
      <p:sp>
        <p:nvSpPr>
          <p:cNvPr id="8" name="Text 6"/>
          <p:cNvSpPr/>
          <p:nvPr/>
        </p:nvSpPr>
        <p:spPr>
          <a:xfrm>
            <a:off x="6248400" y="2570361"/>
            <a:ext cx="499694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What we propose to measure</a:t>
            </a:r>
            <a:endParaRPr lang="en-US" sz="1800" dirty="0"/>
          </a:p>
        </p:txBody>
      </p:sp>
      <p:sp>
        <p:nvSpPr>
          <p:cNvPr id="9" name="Text 7"/>
          <p:cNvSpPr/>
          <p:nvPr/>
        </p:nvSpPr>
        <p:spPr>
          <a:xfrm>
            <a:off x="6248400" y="2971651"/>
            <a:ext cx="499694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Lag index.</a:t>
            </a:r>
            <a:r>
              <a:rPr lang="en-US" sz="1500" dirty="0">
                <a:solidFill>
                  <a:srgbClr val="3A4756"/>
                </a:solidFill>
                <a:latin typeface="Arial" pitchFamily="34" charset="0"/>
                <a:ea typeface="Arial" pitchFamily="34" charset="-122"/>
                <a:cs typeface="Arial" pitchFamily="34" charset="-120"/>
              </a:rPr>
              <a:t> Precision in months 1–3 divided by precision in months 4–6, for scenarios with enough TPs.</a:t>
            </a:r>
            <a:endParaRPr lang="en-US" sz="1500" dirty="0"/>
          </a:p>
        </p:txBody>
      </p:sp>
      <p:sp>
        <p:nvSpPr>
          <p:cNvPr id="10" name="Text 8"/>
          <p:cNvSpPr/>
          <p:nvPr/>
        </p:nvSpPr>
        <p:spPr>
          <a:xfrm>
            <a:off x="6248400" y="3632051"/>
            <a:ext cx="4996942"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Portfolio precision by month index (0–6).</a:t>
            </a:r>
            <a:r>
              <a:rPr lang="en-US" sz="1500" dirty="0">
                <a:solidFill>
                  <a:srgbClr val="3A4756"/>
                </a:solidFill>
                <a:latin typeface="Arial" pitchFamily="34" charset="0"/>
                <a:ea typeface="Arial" pitchFamily="34" charset="-122"/>
                <a:cs typeface="Arial" pitchFamily="34" charset="-120"/>
              </a:rPr>
              <a:t> A steady slide towards month 0 points to lag, not to scenario decay.</a:t>
            </a:r>
            <a:endParaRPr lang="en-US" sz="1500" dirty="0"/>
          </a:p>
        </p:txBody>
      </p:sp>
      <p:sp>
        <p:nvSpPr>
          <p:cNvPr id="11" name="Text 9"/>
          <p:cNvSpPr/>
          <p:nvPr/>
        </p:nvSpPr>
        <p:spPr>
          <a:xfrm>
            <a:off x="6248400" y="4559151"/>
            <a:ext cx="499694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Ask the owners</a:t>
            </a:r>
            <a:r>
              <a:rPr lang="en-US" sz="1500" dirty="0">
                <a:solidFill>
                  <a:srgbClr val="3A4756"/>
                </a:solidFill>
                <a:latin typeface="Arial" pitchFamily="34" charset="0"/>
                <a:ea typeface="Arial" pitchFamily="34" charset="-122"/>
                <a:cs typeface="Arial" pitchFamily="34" charset="-120"/>
              </a:rPr>
              <a:t> for the share of recent alerts still open, and the typical days to close for TP and FP cases.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CHALLENGE · UNCERTAINTY</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A colour needs the evidence behind it: add intervals and tests</a:t>
            </a:r>
            <a:endParaRPr lang="en-US" sz="3800" dirty="0"/>
          </a:p>
        </p:txBody>
      </p:sp>
      <p:sp>
        <p:nvSpPr>
          <p:cNvPr id="4" name="Shape 2"/>
          <p:cNvSpPr/>
          <p:nvPr/>
        </p:nvSpPr>
        <p:spPr>
          <a:xfrm>
            <a:off x="812800" y="2290961"/>
            <a:ext cx="5130800" cy="3284339"/>
          </a:xfrm>
          <a:prstGeom prst="rect">
            <a:avLst/>
          </a:prstGeom>
          <a:solidFill>
            <a:srgbClr val="FFFFFF"/>
          </a:solidFill>
          <a:ln/>
        </p:spPr>
      </p:sp>
      <p:sp>
        <p:nvSpPr>
          <p:cNvPr id="5" name="Text 3"/>
          <p:cNvSpPr/>
          <p:nvPr/>
        </p:nvSpPr>
        <p:spPr>
          <a:xfrm>
            <a:off x="10922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Wilson 95% interval on precision</a:t>
            </a:r>
            <a:endParaRPr lang="en-US" sz="1800" dirty="0"/>
          </a:p>
        </p:txBody>
      </p:sp>
      <p:sp>
        <p:nvSpPr>
          <p:cNvPr id="6" name="Text 4"/>
          <p:cNvSpPr/>
          <p:nvPr/>
        </p:nvSpPr>
        <p:spPr>
          <a:xfrm>
            <a:off x="1092200" y="29716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Computed for 3M, Prior 3M and 6M per scenario. A wide interval means the ratio could move a long way with a few more alerts.</a:t>
            </a:r>
            <a:endParaRPr lang="en-US" sz="1500" dirty="0"/>
          </a:p>
        </p:txBody>
      </p:sp>
      <p:sp>
        <p:nvSpPr>
          <p:cNvPr id="7" name="Text 5"/>
          <p:cNvSpPr/>
          <p:nvPr/>
        </p:nvSpPr>
        <p:spPr>
          <a:xfrm>
            <a:off x="1092200" y="38987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With zero TPs the upper bound is z² / (n + z²), about 3.8 / (n + 3.8). For 30 alerts this is still about 11%, so "no TPs" is not proof of "no value".</a:t>
            </a:r>
            <a:endParaRPr lang="en-US" sz="1500" dirty="0"/>
          </a:p>
        </p:txBody>
      </p:sp>
      <p:sp>
        <p:nvSpPr>
          <p:cNvPr id="8" name="Shape 6"/>
          <p:cNvSpPr/>
          <p:nvPr/>
        </p:nvSpPr>
        <p:spPr>
          <a:xfrm>
            <a:off x="6248400" y="2290961"/>
            <a:ext cx="5130800" cy="3284339"/>
          </a:xfrm>
          <a:prstGeom prst="rect">
            <a:avLst/>
          </a:prstGeom>
          <a:solidFill>
            <a:srgbClr val="FFFFFF"/>
          </a:solidFill>
          <a:ln/>
        </p:spPr>
      </p:sp>
      <p:sp>
        <p:nvSpPr>
          <p:cNvPr id="9" name="Text 7"/>
          <p:cNvSpPr/>
          <p:nvPr/>
        </p:nvSpPr>
        <p:spPr>
          <a:xfrm>
            <a:off x="65278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Test 3M against Prior 3M</a:t>
            </a:r>
            <a:endParaRPr lang="en-US" sz="1800" dirty="0"/>
          </a:p>
        </p:txBody>
      </p:sp>
      <p:sp>
        <p:nvSpPr>
          <p:cNvPr id="10" name="Text 8"/>
          <p:cNvSpPr/>
          <p:nvPr/>
        </p:nvSpPr>
        <p:spPr>
          <a:xfrm>
            <a:off x="6527800" y="29716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A two-proportion z-test when counts are large, and Fisher's exact test when they are small.</a:t>
            </a:r>
            <a:endParaRPr lang="en-US" sz="1500" dirty="0"/>
          </a:p>
        </p:txBody>
      </p:sp>
      <p:sp>
        <p:nvSpPr>
          <p:cNvPr id="11" name="Text 9"/>
          <p:cNvSpPr/>
          <p:nvPr/>
        </p:nvSpPr>
        <p:spPr>
          <a:xfrm>
            <a:off x="6527800" y="36320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Flag a colour as unsupported when the interval is wide or the alert count is below the minimum (100 alerts, 5 TPs in our template).</a:t>
            </a:r>
            <a:endParaRPr lang="en-US" sz="1500" dirty="0"/>
          </a:p>
        </p:txBody>
      </p:sp>
      <p:sp>
        <p:nvSpPr>
          <p:cNvPr id="12" name="Shape 10"/>
          <p:cNvSpPr/>
          <p:nvPr/>
        </p:nvSpPr>
        <p:spPr>
          <a:xfrm>
            <a:off x="831850" y="5880100"/>
            <a:ext cx="0" cy="266700"/>
          </a:xfrm>
          <a:prstGeom prst="line">
            <a:avLst/>
          </a:prstGeom>
          <a:noFill/>
          <a:ln w="38100">
            <a:solidFill>
              <a:srgbClr val="2B7A93"/>
            </a:solidFill>
            <a:prstDash val="solid"/>
          </a:ln>
        </p:spPr>
      </p:sp>
      <p:sp>
        <p:nvSpPr>
          <p:cNvPr id="13" name="Text 11"/>
          <p:cNvSpPr/>
          <p:nvPr/>
        </p:nvSpPr>
        <p:spPr>
          <a:xfrm>
            <a:off x="1028700" y="5880100"/>
            <a:ext cx="1066101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Arial" pitchFamily="34" charset="0"/>
                <a:ea typeface="Arial" pitchFamily="34" charset="-122"/>
                <a:cs typeface="Arial" pitchFamily="34" charset="-120"/>
              </a:rPr>
              <a:t>A change in colour should only trigger action when the difference is statistically distinguishable from noise.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CHALLENGE · CONCENTRATION AND STABILITY</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Where do the TPs come from, and how steady is each scenario?</a:t>
            </a:r>
            <a:endParaRPr lang="en-US" sz="3800" dirty="0"/>
          </a:p>
        </p:txBody>
      </p:sp>
      <p:sp>
        <p:nvSpPr>
          <p:cNvPr id="4" name="Shape 2"/>
          <p:cNvSpPr/>
          <p:nvPr/>
        </p:nvSpPr>
        <p:spPr>
          <a:xfrm>
            <a:off x="812800" y="2290961"/>
            <a:ext cx="5130800" cy="3855839"/>
          </a:xfrm>
          <a:prstGeom prst="rect">
            <a:avLst/>
          </a:prstGeom>
          <a:solidFill>
            <a:srgbClr val="FFFFFF"/>
          </a:solidFill>
          <a:ln/>
        </p:spPr>
      </p:sp>
      <p:sp>
        <p:nvSpPr>
          <p:cNvPr id="5" name="Text 3"/>
          <p:cNvSpPr/>
          <p:nvPr/>
        </p:nvSpPr>
        <p:spPr>
          <a:xfrm>
            <a:off x="10922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Concentration</a:t>
            </a:r>
            <a:endParaRPr lang="en-US" sz="1800" dirty="0"/>
          </a:p>
        </p:txBody>
      </p:sp>
      <p:sp>
        <p:nvSpPr>
          <p:cNvPr id="6" name="Text 4"/>
          <p:cNvSpPr/>
          <p:nvPr/>
        </p:nvSpPr>
        <p:spPr>
          <a:xfrm>
            <a:off x="1092200" y="29716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Pareto.</a:t>
            </a:r>
            <a:r>
              <a:rPr lang="en-US" sz="1500" dirty="0">
                <a:solidFill>
                  <a:srgbClr val="3A4756"/>
                </a:solidFill>
                <a:latin typeface="Arial" pitchFamily="34" charset="0"/>
                <a:ea typeface="Arial" pitchFamily="34" charset="-122"/>
                <a:cs typeface="Arial" pitchFamily="34" charset="-120"/>
              </a:rPr>
              <a:t> Rank scenarios by TP and by alerts, and see how many scenarios produce most TPs and most alerts.</a:t>
            </a:r>
            <a:endParaRPr lang="en-US" sz="1500" dirty="0"/>
          </a:p>
        </p:txBody>
      </p:sp>
      <p:sp>
        <p:nvSpPr>
          <p:cNvPr id="7" name="Text 5"/>
          <p:cNvSpPr/>
          <p:nvPr/>
        </p:nvSpPr>
        <p:spPr>
          <a:xfrm>
            <a:off x="1092200" y="38987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Zero-TP scenarios.</a:t>
            </a:r>
            <a:r>
              <a:rPr lang="en-US" sz="1500" dirty="0">
                <a:solidFill>
                  <a:srgbClr val="3A4756"/>
                </a:solidFill>
                <a:latin typeface="Arial" pitchFamily="34" charset="0"/>
                <a:ea typeface="Arial" pitchFamily="34" charset="-122"/>
                <a:cs typeface="Arial" pitchFamily="34" charset="-120"/>
              </a:rPr>
              <a:t> List scenarios with alerts but no TP in the window, with their alert volume and the Wilson upper bound.</a:t>
            </a:r>
            <a:endParaRPr lang="en-US" sz="1500" dirty="0"/>
          </a:p>
        </p:txBody>
      </p:sp>
      <p:sp>
        <p:nvSpPr>
          <p:cNvPr id="8" name="Text 6"/>
          <p:cNvSpPr/>
          <p:nvPr/>
        </p:nvSpPr>
        <p:spPr>
          <a:xfrm>
            <a:off x="1092200" y="48258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HOLD vs STOP.</a:t>
            </a:r>
            <a:r>
              <a:rPr lang="en-US" sz="1500" dirty="0">
                <a:solidFill>
                  <a:srgbClr val="3A4756"/>
                </a:solidFill>
                <a:latin typeface="Arial" pitchFamily="34" charset="0"/>
                <a:ea typeface="Arial" pitchFamily="34" charset="-122"/>
                <a:cs typeface="Arial" pitchFamily="34" charset="-120"/>
              </a:rPr>
              <a:t> Compare precision by response type.</a:t>
            </a:r>
            <a:endParaRPr lang="en-US" sz="1500" dirty="0"/>
          </a:p>
        </p:txBody>
      </p:sp>
      <p:sp>
        <p:nvSpPr>
          <p:cNvPr id="9" name="Shape 7"/>
          <p:cNvSpPr/>
          <p:nvPr/>
        </p:nvSpPr>
        <p:spPr>
          <a:xfrm>
            <a:off x="6248400" y="2290961"/>
            <a:ext cx="5130800" cy="3855839"/>
          </a:xfrm>
          <a:prstGeom prst="rect">
            <a:avLst/>
          </a:prstGeom>
          <a:solidFill>
            <a:srgbClr val="FFFFFF"/>
          </a:solidFill>
          <a:ln/>
        </p:spPr>
      </p:sp>
      <p:sp>
        <p:nvSpPr>
          <p:cNvPr id="10" name="Text 8"/>
          <p:cNvSpPr/>
          <p:nvPr/>
        </p:nvSpPr>
        <p:spPr>
          <a:xfrm>
            <a:off x="65278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Stability</a:t>
            </a:r>
            <a:endParaRPr lang="en-US" sz="1800" dirty="0"/>
          </a:p>
        </p:txBody>
      </p:sp>
      <p:sp>
        <p:nvSpPr>
          <p:cNvPr id="11" name="Text 9"/>
          <p:cNvSpPr/>
          <p:nvPr/>
        </p:nvSpPr>
        <p:spPr>
          <a:xfrm>
            <a:off x="6527800" y="29716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Volume.</a:t>
            </a:r>
            <a:r>
              <a:rPr lang="en-US" sz="1500" dirty="0">
                <a:solidFill>
                  <a:srgbClr val="3A4756"/>
                </a:solidFill>
                <a:latin typeface="Arial" pitchFamily="34" charset="0"/>
                <a:ea typeface="Arial" pitchFamily="34" charset="-122"/>
                <a:cs typeface="Arial" pitchFamily="34" charset="-120"/>
              </a:rPr>
              <a:t> Mean, standard deviation and coefficient of variation of monthly alerts, against a Poisson benchmark.</a:t>
            </a:r>
            <a:endParaRPr lang="en-US" sz="1500" dirty="0"/>
          </a:p>
        </p:txBody>
      </p:sp>
      <p:sp>
        <p:nvSpPr>
          <p:cNvPr id="12" name="Text 10"/>
          <p:cNvSpPr/>
          <p:nvPr/>
        </p:nvSpPr>
        <p:spPr>
          <a:xfrm>
            <a:off x="6527800" y="38987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Spikes.</a:t>
            </a:r>
            <a:r>
              <a:rPr lang="en-US" sz="1500" dirty="0">
                <a:solidFill>
                  <a:srgbClr val="3A4756"/>
                </a:solidFill>
                <a:latin typeface="Arial" pitchFamily="34" charset="0"/>
                <a:ea typeface="Arial" pitchFamily="34" charset="-122"/>
                <a:cs typeface="Arial" pitchFamily="34" charset="-120"/>
              </a:rPr>
              <a:t> Flag the latest month when it sits more than 2 standard deviations from the scenario's own history.</a:t>
            </a:r>
            <a:endParaRPr lang="en-US" sz="1500" dirty="0"/>
          </a:p>
        </p:txBody>
      </p:sp>
      <p:sp>
        <p:nvSpPr>
          <p:cNvPr id="13" name="Text 11"/>
          <p:cNvSpPr/>
          <p:nvPr/>
        </p:nvSpPr>
        <p:spPr>
          <a:xfrm>
            <a:off x="6527800" y="45591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Back-test.</a:t>
            </a:r>
            <a:r>
              <a:rPr lang="en-US" sz="1500" dirty="0">
                <a:solidFill>
                  <a:srgbClr val="3A4756"/>
                </a:solidFill>
                <a:latin typeface="Arial" pitchFamily="34" charset="0"/>
                <a:ea typeface="Arial" pitchFamily="34" charset="-122"/>
                <a:cs typeface="Arial" pitchFamily="34" charset="-120"/>
              </a:rPr>
              <a:t> Check whether past colours would have anticipated later changes.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PROPOSAL · METRICS</a:t>
            </a:r>
            <a:endParaRPr lang="en-US" sz="1200" dirty="0"/>
          </a:p>
        </p:txBody>
      </p:sp>
      <p:sp>
        <p:nvSpPr>
          <p:cNvPr id="3" name="Text 1"/>
          <p:cNvSpPr/>
          <p:nvPr>
            <p:ph type="title"/>
          </p:nvPr>
        </p:nvSpPr>
        <p:spPr>
          <a:xfrm>
            <a:off x="812800" y="92452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Proposed metrics, mapped to each gap</a:t>
            </a:r>
            <a:endParaRPr lang="en-US" sz="3800" dirty="0"/>
          </a:p>
        </p:txBody>
      </p:sp>
      <p:sp>
        <p:nvSpPr>
          <p:cNvPr id="4" name="Shape 2"/>
          <p:cNvSpPr/>
          <p:nvPr/>
        </p:nvSpPr>
        <p:spPr>
          <a:xfrm>
            <a:off x="812800" y="1734741"/>
            <a:ext cx="10566400" cy="4316512"/>
          </a:xfrm>
          <a:prstGeom prst="rect">
            <a:avLst/>
          </a:prstGeom>
          <a:solidFill>
            <a:srgbClr val="FFFFFF"/>
          </a:solidFill>
          <a:ln/>
        </p:spPr>
      </p:sp>
      <p:sp>
        <p:nvSpPr>
          <p:cNvPr id="5" name="Shape 3"/>
          <p:cNvSpPr/>
          <p:nvPr/>
        </p:nvSpPr>
        <p:spPr>
          <a:xfrm>
            <a:off x="812800" y="1734741"/>
            <a:ext cx="10566400" cy="494010"/>
          </a:xfrm>
          <a:prstGeom prst="rect">
            <a:avLst/>
          </a:prstGeom>
          <a:solidFill>
            <a:srgbClr val="16202E"/>
          </a:solidFill>
          <a:ln/>
        </p:spPr>
      </p:sp>
      <p:sp>
        <p:nvSpPr>
          <p:cNvPr id="6" name="Text 4"/>
          <p:cNvSpPr/>
          <p:nvPr/>
        </p:nvSpPr>
        <p:spPr>
          <a:xfrm>
            <a:off x="1016000" y="1861741"/>
            <a:ext cx="261620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2F5F8"/>
                </a:solidFill>
                <a:latin typeface="Arial" pitchFamily="34" charset="0"/>
                <a:ea typeface="Arial" pitchFamily="34" charset="-122"/>
                <a:cs typeface="Arial" pitchFamily="34" charset="-120"/>
              </a:rPr>
              <a:t>Gap</a:t>
            </a:r>
            <a:endParaRPr lang="en-US" sz="1400" dirty="0"/>
          </a:p>
        </p:txBody>
      </p:sp>
      <p:sp>
        <p:nvSpPr>
          <p:cNvPr id="7" name="Text 5"/>
          <p:cNvSpPr/>
          <p:nvPr/>
        </p:nvSpPr>
        <p:spPr>
          <a:xfrm>
            <a:off x="3556000" y="1861741"/>
            <a:ext cx="392430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2F5F8"/>
                </a:solidFill>
                <a:latin typeface="Arial" pitchFamily="34" charset="0"/>
                <a:ea typeface="Arial" pitchFamily="34" charset="-122"/>
                <a:cs typeface="Arial" pitchFamily="34" charset="-120"/>
              </a:rPr>
              <a:t>Metric to add</a:t>
            </a:r>
            <a:endParaRPr lang="en-US" sz="1400" dirty="0"/>
          </a:p>
        </p:txBody>
      </p:sp>
      <p:sp>
        <p:nvSpPr>
          <p:cNvPr id="8" name="Text 6"/>
          <p:cNvSpPr/>
          <p:nvPr/>
        </p:nvSpPr>
        <p:spPr>
          <a:xfrm>
            <a:off x="7366000" y="1861741"/>
            <a:ext cx="392430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2F5F8"/>
                </a:solidFill>
                <a:latin typeface="Arial" pitchFamily="34" charset="0"/>
                <a:ea typeface="Arial" pitchFamily="34" charset="-122"/>
                <a:cs typeface="Arial" pitchFamily="34" charset="-120"/>
              </a:rPr>
              <a:t>Needs from owners</a:t>
            </a:r>
            <a:endParaRPr lang="en-US" sz="1400" dirty="0"/>
          </a:p>
        </p:txBody>
      </p:sp>
      <p:sp>
        <p:nvSpPr>
          <p:cNvPr id="9" name="Shape 7"/>
          <p:cNvSpPr/>
          <p:nvPr/>
        </p:nvSpPr>
        <p:spPr>
          <a:xfrm>
            <a:off x="812800" y="2991346"/>
            <a:ext cx="10566400" cy="0"/>
          </a:xfrm>
          <a:prstGeom prst="line">
            <a:avLst/>
          </a:prstGeom>
          <a:noFill/>
          <a:ln w="6350">
            <a:solidFill>
              <a:srgbClr val="E2DED3"/>
            </a:solidFill>
            <a:prstDash val="solid"/>
          </a:ln>
        </p:spPr>
      </p:sp>
      <p:sp>
        <p:nvSpPr>
          <p:cNvPr id="10" name="Text 8"/>
          <p:cNvSpPr/>
          <p:nvPr/>
        </p:nvSpPr>
        <p:spPr>
          <a:xfrm>
            <a:off x="3556000" y="2368451"/>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FP rate over total payments screened; alerts per TP</a:t>
            </a:r>
            <a:endParaRPr lang="en-US" sz="1400" dirty="0"/>
          </a:p>
        </p:txBody>
      </p:sp>
      <p:sp>
        <p:nvSpPr>
          <p:cNvPr id="11" name="Text 9"/>
          <p:cNvSpPr/>
          <p:nvPr/>
        </p:nvSpPr>
        <p:spPr>
          <a:xfrm>
            <a:off x="7366000" y="2368451"/>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Total payments screened per month (TN in FraudSTATS may supply it)</a:t>
            </a:r>
            <a:endParaRPr lang="en-US" sz="1400" dirty="0"/>
          </a:p>
        </p:txBody>
      </p:sp>
      <p:sp>
        <p:nvSpPr>
          <p:cNvPr id="12" name="Shape 10"/>
          <p:cNvSpPr/>
          <p:nvPr/>
        </p:nvSpPr>
        <p:spPr>
          <a:xfrm>
            <a:off x="812800" y="3757116"/>
            <a:ext cx="10566400" cy="0"/>
          </a:xfrm>
          <a:prstGeom prst="line">
            <a:avLst/>
          </a:prstGeom>
          <a:noFill/>
          <a:ln w="6350">
            <a:solidFill>
              <a:srgbClr val="E2DED3"/>
            </a:solidFill>
            <a:prstDash val="solid"/>
          </a:ln>
        </p:spPr>
      </p:sp>
      <p:sp>
        <p:nvSpPr>
          <p:cNvPr id="13" name="Text 11"/>
          <p:cNvSpPr/>
          <p:nvPr/>
        </p:nvSpPr>
        <p:spPr>
          <a:xfrm>
            <a:off x="3556000" y="3134221"/>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Precision by month index; lag index (3M vs Prior 3M)</a:t>
            </a:r>
            <a:endParaRPr lang="en-US" sz="1400" dirty="0"/>
          </a:p>
        </p:txBody>
      </p:sp>
      <p:sp>
        <p:nvSpPr>
          <p:cNvPr id="14" name="Text 12"/>
          <p:cNvSpPr/>
          <p:nvPr/>
        </p:nvSpPr>
        <p:spPr>
          <a:xfrm>
            <a:off x="7366000" y="3134221"/>
            <a:ext cx="3924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Typical time to confirm fraud</a:t>
            </a:r>
            <a:endParaRPr lang="en-US" sz="1400" dirty="0"/>
          </a:p>
        </p:txBody>
      </p:sp>
      <p:sp>
        <p:nvSpPr>
          <p:cNvPr id="15" name="Shape 13"/>
          <p:cNvSpPr/>
          <p:nvPr/>
        </p:nvSpPr>
        <p:spPr>
          <a:xfrm>
            <a:off x="812800" y="4522887"/>
            <a:ext cx="10566400" cy="0"/>
          </a:xfrm>
          <a:prstGeom prst="line">
            <a:avLst/>
          </a:prstGeom>
          <a:noFill/>
          <a:ln w="6350">
            <a:solidFill>
              <a:srgbClr val="E2DED3"/>
            </a:solidFill>
            <a:prstDash val="solid"/>
          </a:ln>
        </p:spPr>
      </p:sp>
      <p:sp>
        <p:nvSpPr>
          <p:cNvPr id="16" name="Text 14"/>
          <p:cNvSpPr/>
          <p:nvPr/>
        </p:nvSpPr>
        <p:spPr>
          <a:xfrm>
            <a:off x="3556000" y="3899991"/>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Count and TP/FP mix of NULL rows, reported every cycle</a:t>
            </a:r>
            <a:endParaRPr lang="en-US" sz="1400" dirty="0"/>
          </a:p>
        </p:txBody>
      </p:sp>
      <p:sp>
        <p:nvSpPr>
          <p:cNvPr id="17" name="Text 15"/>
          <p:cNvSpPr/>
          <p:nvPr/>
        </p:nvSpPr>
        <p:spPr>
          <a:xfrm>
            <a:off x="7366000" y="3899991"/>
            <a:ext cx="3924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SQL logic for 3M and 6M tabs</a:t>
            </a:r>
            <a:endParaRPr lang="en-US" sz="1400" dirty="0"/>
          </a:p>
        </p:txBody>
      </p:sp>
      <p:sp>
        <p:nvSpPr>
          <p:cNvPr id="18" name="Shape 16"/>
          <p:cNvSpPr/>
          <p:nvPr/>
        </p:nvSpPr>
        <p:spPr>
          <a:xfrm>
            <a:off x="812800" y="5288657"/>
            <a:ext cx="10566400" cy="0"/>
          </a:xfrm>
          <a:prstGeom prst="line">
            <a:avLst/>
          </a:prstGeom>
          <a:noFill/>
          <a:ln w="6350">
            <a:solidFill>
              <a:srgbClr val="E2DED3"/>
            </a:solidFill>
            <a:prstDash val="solid"/>
          </a:ln>
        </p:spPr>
      </p:sp>
      <p:sp>
        <p:nvSpPr>
          <p:cNvPr id="19" name="Text 17"/>
          <p:cNvSpPr/>
          <p:nvPr/>
        </p:nvSpPr>
        <p:spPr>
          <a:xfrm>
            <a:off x="3556000" y="4665762"/>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Recall by scenario, with intervals and a lag adjustment</a:t>
            </a:r>
            <a:endParaRPr lang="en-US" sz="1400" dirty="0"/>
          </a:p>
        </p:txBody>
      </p:sp>
      <p:sp>
        <p:nvSpPr>
          <p:cNvPr id="20" name="Text 18"/>
          <p:cNvSpPr/>
          <p:nvPr/>
        </p:nvSpPr>
        <p:spPr>
          <a:xfrm>
            <a:off x="7366000" y="4665762"/>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Payment-level data combining all confirmed fraud with scenario hits</a:t>
            </a:r>
            <a:endParaRPr lang="en-US" sz="1400" dirty="0"/>
          </a:p>
        </p:txBody>
      </p:sp>
      <p:sp>
        <p:nvSpPr>
          <p:cNvPr id="21" name="Text 19"/>
          <p:cNvSpPr/>
          <p:nvPr/>
        </p:nvSpPr>
        <p:spPr>
          <a:xfrm>
            <a:off x="3556000" y="5431532"/>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Wilson intervals, z-test or Fisher test, minimum evidence rule</a:t>
            </a:r>
            <a:endParaRPr lang="en-US" sz="1400" dirty="0"/>
          </a:p>
        </p:txBody>
      </p:sp>
      <p:sp>
        <p:nvSpPr>
          <p:cNvPr id="22" name="Text 20"/>
          <p:cNvSpPr/>
          <p:nvPr/>
        </p:nvSpPr>
        <p:spPr>
          <a:xfrm>
            <a:off x="7366000" y="5431532"/>
            <a:ext cx="3924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Agreement on cut-offs and thresholds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PROPOSAL · MONITORING DESIGN</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Make the colours rule-based, evidence-aware and documented</a:t>
            </a:r>
            <a:endParaRPr lang="en-US" sz="3800" dirty="0"/>
          </a:p>
        </p:txBody>
      </p:sp>
      <p:sp>
        <p:nvSpPr>
          <p:cNvPr id="4" name="Shape 2"/>
          <p:cNvSpPr/>
          <p:nvPr/>
        </p:nvSpPr>
        <p:spPr>
          <a:xfrm>
            <a:off x="812800" y="2290961"/>
            <a:ext cx="2451100" cy="3284339"/>
          </a:xfrm>
          <a:prstGeom prst="rect">
            <a:avLst/>
          </a:prstGeom>
          <a:solidFill>
            <a:srgbClr val="FFFFFF"/>
          </a:solidFill>
          <a:ln/>
        </p:spPr>
      </p:sp>
      <p:sp>
        <p:nvSpPr>
          <p:cNvPr id="5" name="Shape 3"/>
          <p:cNvSpPr/>
          <p:nvPr/>
        </p:nvSpPr>
        <p:spPr>
          <a:xfrm>
            <a:off x="812800" y="2310011"/>
            <a:ext cx="2451100" cy="0"/>
          </a:xfrm>
          <a:prstGeom prst="line">
            <a:avLst/>
          </a:prstGeom>
          <a:noFill/>
          <a:ln w="38100">
            <a:solidFill>
              <a:srgbClr val="2B7A93"/>
            </a:solidFill>
            <a:prstDash val="solid"/>
          </a:ln>
        </p:spPr>
      </p:sp>
      <p:sp>
        <p:nvSpPr>
          <p:cNvPr id="6" name="Text 4"/>
          <p:cNvSpPr/>
          <p:nvPr/>
        </p:nvSpPr>
        <p:spPr>
          <a:xfrm>
            <a:off x="1066800" y="2583061"/>
            <a:ext cx="2001393"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Document thresholds</a:t>
            </a:r>
            <a:endParaRPr lang="en-US" sz="1800" dirty="0"/>
          </a:p>
        </p:txBody>
      </p:sp>
      <p:sp>
        <p:nvSpPr>
          <p:cNvPr id="7" name="Text 5"/>
          <p:cNvSpPr/>
          <p:nvPr/>
        </p:nvSpPr>
        <p:spPr>
          <a:xfrm>
            <a:off x="1066800" y="3131641"/>
            <a:ext cx="2001393"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Write down the bands behind each colour, who set them and when they are reviewed.</a:t>
            </a:r>
            <a:endParaRPr lang="en-US" sz="1500" dirty="0"/>
          </a:p>
        </p:txBody>
      </p:sp>
      <p:sp>
        <p:nvSpPr>
          <p:cNvPr id="8" name="Shape 6"/>
          <p:cNvSpPr/>
          <p:nvPr/>
        </p:nvSpPr>
        <p:spPr>
          <a:xfrm>
            <a:off x="3517900" y="2290961"/>
            <a:ext cx="2451100" cy="3284339"/>
          </a:xfrm>
          <a:prstGeom prst="rect">
            <a:avLst/>
          </a:prstGeom>
          <a:solidFill>
            <a:srgbClr val="FFFFFF"/>
          </a:solidFill>
          <a:ln/>
        </p:spPr>
      </p:sp>
      <p:sp>
        <p:nvSpPr>
          <p:cNvPr id="9" name="Shape 7"/>
          <p:cNvSpPr/>
          <p:nvPr/>
        </p:nvSpPr>
        <p:spPr>
          <a:xfrm>
            <a:off x="3517900" y="2310011"/>
            <a:ext cx="2451100" cy="0"/>
          </a:xfrm>
          <a:prstGeom prst="line">
            <a:avLst/>
          </a:prstGeom>
          <a:noFill/>
          <a:ln w="38100">
            <a:solidFill>
              <a:srgbClr val="2B7A93"/>
            </a:solidFill>
            <a:prstDash val="solid"/>
          </a:ln>
        </p:spPr>
      </p:sp>
      <p:sp>
        <p:nvSpPr>
          <p:cNvPr id="10" name="Text 8"/>
          <p:cNvSpPr/>
          <p:nvPr/>
        </p:nvSpPr>
        <p:spPr>
          <a:xfrm>
            <a:off x="3771900" y="2583061"/>
            <a:ext cx="2001393"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Show the evidence</a:t>
            </a:r>
            <a:endParaRPr lang="en-US" sz="1800" dirty="0"/>
          </a:p>
        </p:txBody>
      </p:sp>
      <p:sp>
        <p:nvSpPr>
          <p:cNvPr id="11" name="Text 9"/>
          <p:cNvSpPr/>
          <p:nvPr/>
        </p:nvSpPr>
        <p:spPr>
          <a:xfrm>
            <a:off x="3771900" y="3131641"/>
            <a:ext cx="2001393"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Report alerts, TPs and the interval next to each ratio. Grey out scenarios below the minimum evidence rule.</a:t>
            </a:r>
            <a:endParaRPr lang="en-US" sz="1500" dirty="0"/>
          </a:p>
        </p:txBody>
      </p:sp>
      <p:sp>
        <p:nvSpPr>
          <p:cNvPr id="12" name="Shape 10"/>
          <p:cNvSpPr/>
          <p:nvPr/>
        </p:nvSpPr>
        <p:spPr>
          <a:xfrm>
            <a:off x="6223000" y="2290961"/>
            <a:ext cx="2451100" cy="3284339"/>
          </a:xfrm>
          <a:prstGeom prst="rect">
            <a:avLst/>
          </a:prstGeom>
          <a:solidFill>
            <a:srgbClr val="FFFFFF"/>
          </a:solidFill>
          <a:ln/>
        </p:spPr>
      </p:sp>
      <p:sp>
        <p:nvSpPr>
          <p:cNvPr id="13" name="Shape 11"/>
          <p:cNvSpPr/>
          <p:nvPr/>
        </p:nvSpPr>
        <p:spPr>
          <a:xfrm>
            <a:off x="6223000" y="2310011"/>
            <a:ext cx="2451100" cy="0"/>
          </a:xfrm>
          <a:prstGeom prst="line">
            <a:avLst/>
          </a:prstGeom>
          <a:noFill/>
          <a:ln w="38100">
            <a:solidFill>
              <a:srgbClr val="2B7A93"/>
            </a:solidFill>
            <a:prstDash val="solid"/>
          </a:ln>
        </p:spPr>
      </p:sp>
      <p:sp>
        <p:nvSpPr>
          <p:cNvPr id="14" name="Text 12"/>
          <p:cNvSpPr/>
          <p:nvPr/>
        </p:nvSpPr>
        <p:spPr>
          <a:xfrm>
            <a:off x="6477000" y="2583061"/>
            <a:ext cx="21971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Combine the data</a:t>
            </a:r>
            <a:endParaRPr lang="en-US" sz="1800" dirty="0"/>
          </a:p>
        </p:txBody>
      </p:sp>
      <p:sp>
        <p:nvSpPr>
          <p:cNvPr id="15" name="Text 13"/>
          <p:cNvSpPr/>
          <p:nvPr/>
        </p:nvSpPr>
        <p:spPr>
          <a:xfrm>
            <a:off x="6477000" y="2857351"/>
            <a:ext cx="2001393" cy="21590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One payment-level dataset in the bi-weekly: payments screened, confirmed fraud and the scenarios that hit each. Recall then follows by scenario.</a:t>
            </a:r>
            <a:endParaRPr lang="en-US" sz="1500" dirty="0"/>
          </a:p>
        </p:txBody>
      </p:sp>
      <p:sp>
        <p:nvSpPr>
          <p:cNvPr id="16" name="Shape 14"/>
          <p:cNvSpPr/>
          <p:nvPr/>
        </p:nvSpPr>
        <p:spPr>
          <a:xfrm>
            <a:off x="8928100" y="2290961"/>
            <a:ext cx="2451100" cy="3284339"/>
          </a:xfrm>
          <a:prstGeom prst="rect">
            <a:avLst/>
          </a:prstGeom>
          <a:solidFill>
            <a:srgbClr val="FFFFFF"/>
          </a:solidFill>
          <a:ln/>
        </p:spPr>
      </p:sp>
      <p:sp>
        <p:nvSpPr>
          <p:cNvPr id="17" name="Shape 15"/>
          <p:cNvSpPr/>
          <p:nvPr/>
        </p:nvSpPr>
        <p:spPr>
          <a:xfrm>
            <a:off x="8928100" y="2310011"/>
            <a:ext cx="2451100" cy="0"/>
          </a:xfrm>
          <a:prstGeom prst="line">
            <a:avLst/>
          </a:prstGeom>
          <a:noFill/>
          <a:ln w="38100">
            <a:solidFill>
              <a:srgbClr val="2B7A93"/>
            </a:solidFill>
            <a:prstDash val="solid"/>
          </a:ln>
        </p:spPr>
      </p:sp>
      <p:sp>
        <p:nvSpPr>
          <p:cNvPr id="18" name="Text 16"/>
          <p:cNvSpPr/>
          <p:nvPr/>
        </p:nvSpPr>
        <p:spPr>
          <a:xfrm>
            <a:off x="9182100" y="2583061"/>
            <a:ext cx="200139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Define the action</a:t>
            </a:r>
            <a:endParaRPr lang="en-US" sz="1800" dirty="0"/>
          </a:p>
        </p:txBody>
      </p:sp>
      <p:sp>
        <p:nvSpPr>
          <p:cNvPr id="19" name="Text 17"/>
          <p:cNvSpPr/>
          <p:nvPr/>
        </p:nvSpPr>
        <p:spPr>
          <a:xfrm>
            <a:off x="9182100" y="2857351"/>
            <a:ext cx="2001393"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State what happens when a scenario turns red or amber, and link it to the change process.</a:t>
            </a:r>
            <a:endParaRPr lang="en-US" sz="1500" dirty="0"/>
          </a:p>
        </p:txBody>
      </p:sp>
      <p:sp>
        <p:nvSpPr>
          <p:cNvPr id="20" name="Shape 18"/>
          <p:cNvSpPr/>
          <p:nvPr/>
        </p:nvSpPr>
        <p:spPr>
          <a:xfrm>
            <a:off x="831850" y="5880100"/>
            <a:ext cx="0" cy="266700"/>
          </a:xfrm>
          <a:prstGeom prst="line">
            <a:avLst/>
          </a:prstGeom>
          <a:noFill/>
          <a:ln w="38100">
            <a:solidFill>
              <a:srgbClr val="2B7A93"/>
            </a:solidFill>
            <a:prstDash val="solid"/>
          </a:ln>
        </p:spPr>
      </p:sp>
      <p:sp>
        <p:nvSpPr>
          <p:cNvPr id="21" name="Text 19"/>
          <p:cNvSpPr/>
          <p:nvPr/>
        </p:nvSpPr>
        <p:spPr>
          <a:xfrm>
            <a:off x="1028700" y="5880100"/>
            <a:ext cx="1066101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Arial" pitchFamily="34" charset="0"/>
                <a:ea typeface="Arial" pitchFamily="34" charset="-122"/>
                <a:cs typeface="Arial" pitchFamily="34" charset="-120"/>
              </a:rPr>
              <a:t>If weekly data exists, control charts or CUSUM would detect a shift sooner than a bi-weekly colour.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FC1D6"/>
                </a:solidFill>
                <a:latin typeface="Arial" pitchFamily="34" charset="0"/>
                <a:ea typeface="Arial" pitchFamily="34" charset="-122"/>
                <a:cs typeface="Arial" pitchFamily="34" charset="-120"/>
              </a:rPr>
              <a:t>NEXT STEPS</a:t>
            </a:r>
            <a:endParaRPr lang="en-US" sz="1200" dirty="0"/>
          </a:p>
        </p:txBody>
      </p:sp>
      <p:sp>
        <p:nvSpPr>
          <p:cNvPr id="3" name="Text 1"/>
          <p:cNvSpPr/>
          <p:nvPr>
            <p:ph type="title"/>
          </p:nvPr>
        </p:nvSpPr>
        <p:spPr>
          <a:xfrm>
            <a:off x="812800" y="92452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2F5F8"/>
                </a:solidFill>
                <a:latin typeface="Georgia" pitchFamily="18" charset="0"/>
                <a:ea typeface="Georgia" pitchFamily="18" charset="-122"/>
                <a:cs typeface="Georgia" pitchFamily="18" charset="-120"/>
              </a:rPr>
              <a:t>What we need from you to finish the challenge</a:t>
            </a:r>
            <a:endParaRPr lang="en-US" sz="3800" dirty="0"/>
          </a:p>
        </p:txBody>
      </p:sp>
      <p:sp>
        <p:nvSpPr>
          <p:cNvPr id="4" name="Shape 2"/>
          <p:cNvSpPr/>
          <p:nvPr/>
        </p:nvSpPr>
        <p:spPr>
          <a:xfrm>
            <a:off x="812800" y="1760141"/>
            <a:ext cx="5130800" cy="4386659"/>
          </a:xfrm>
          <a:prstGeom prst="rect">
            <a:avLst/>
          </a:prstGeom>
          <a:solidFill>
            <a:srgbClr val="1F2D40"/>
          </a:solidFill>
          <a:ln/>
        </p:spPr>
      </p:sp>
      <p:sp>
        <p:nvSpPr>
          <p:cNvPr id="5" name="Text 3"/>
          <p:cNvSpPr/>
          <p:nvPr/>
        </p:nvSpPr>
        <p:spPr>
          <a:xfrm>
            <a:off x="1092200" y="203954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FC1D6"/>
                </a:solidFill>
                <a:latin typeface="Arial" pitchFamily="34" charset="0"/>
                <a:ea typeface="Arial" pitchFamily="34" charset="-122"/>
                <a:cs typeface="Arial" pitchFamily="34" charset="-120"/>
              </a:rPr>
              <a:t>Questions to confirm</a:t>
            </a:r>
            <a:endParaRPr lang="en-US" sz="1800" dirty="0"/>
          </a:p>
        </p:txBody>
      </p:sp>
      <p:sp>
        <p:nvSpPr>
          <p:cNvPr id="6" name="Text 4"/>
          <p:cNvSpPr/>
          <p:nvPr/>
        </p:nvSpPr>
        <p:spPr>
          <a:xfrm>
            <a:off x="1092200" y="2313831"/>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Is volume the number of alerts or of payments?</a:t>
            </a:r>
            <a:endParaRPr lang="en-US" sz="1500" dirty="0"/>
          </a:p>
        </p:txBody>
      </p:sp>
      <p:sp>
        <p:nvSpPr>
          <p:cNvPr id="7" name="Text 5"/>
          <p:cNvSpPr/>
          <p:nvPr/>
        </p:nvSpPr>
        <p:spPr>
          <a:xfrm>
            <a:off x="1092200" y="2590056"/>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Do the 3M and 6M tabs use the same SQL logic?</a:t>
            </a:r>
            <a:endParaRPr lang="en-US" sz="1500" dirty="0"/>
          </a:p>
        </p:txBody>
      </p:sp>
      <p:sp>
        <p:nvSpPr>
          <p:cNvPr id="8" name="Text 6"/>
          <p:cNvSpPr/>
          <p:nvPr/>
        </p:nvSpPr>
        <p:spPr>
          <a:xfrm>
            <a:off x="1092200" y="2866281"/>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What are the colour cut-offs, if any?</a:t>
            </a:r>
            <a:endParaRPr lang="en-US" sz="1500" dirty="0"/>
          </a:p>
        </p:txBody>
      </p:sp>
      <p:sp>
        <p:nvSpPr>
          <p:cNvPr id="9" name="Text 7"/>
          <p:cNvSpPr/>
          <p:nvPr/>
        </p:nvSpPr>
        <p:spPr>
          <a:xfrm>
            <a:off x="1092200" y="3142506"/>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What is the TP and FP mix of the NULL rows?</a:t>
            </a:r>
            <a:endParaRPr lang="en-US" sz="1500" dirty="0"/>
          </a:p>
        </p:txBody>
      </p:sp>
      <p:sp>
        <p:nvSpPr>
          <p:cNvPr id="10" name="Shape 8"/>
          <p:cNvSpPr/>
          <p:nvPr/>
        </p:nvSpPr>
        <p:spPr>
          <a:xfrm>
            <a:off x="6248400" y="1760141"/>
            <a:ext cx="5130800" cy="4386659"/>
          </a:xfrm>
          <a:prstGeom prst="rect">
            <a:avLst/>
          </a:prstGeom>
          <a:solidFill>
            <a:srgbClr val="1F2D40"/>
          </a:solidFill>
          <a:ln/>
        </p:spPr>
      </p:sp>
      <p:sp>
        <p:nvSpPr>
          <p:cNvPr id="11" name="Text 9"/>
          <p:cNvSpPr/>
          <p:nvPr/>
        </p:nvSpPr>
        <p:spPr>
          <a:xfrm>
            <a:off x="6527800" y="203954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FC1D6"/>
                </a:solidFill>
                <a:latin typeface="Arial" pitchFamily="34" charset="0"/>
                <a:ea typeface="Arial" pitchFamily="34" charset="-122"/>
                <a:cs typeface="Arial" pitchFamily="34" charset="-120"/>
              </a:rPr>
              <a:t>Data and actions</a:t>
            </a:r>
            <a:endParaRPr lang="en-US" sz="1800" dirty="0"/>
          </a:p>
        </p:txBody>
      </p:sp>
      <p:sp>
        <p:nvSpPr>
          <p:cNvPr id="12" name="Text 10"/>
          <p:cNvSpPr/>
          <p:nvPr/>
        </p:nvSpPr>
        <p:spPr>
          <a:xfrm>
            <a:off x="6527800" y="2313831"/>
            <a:ext cx="470916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Payment-level data combining payments screened, all confirmed fraud and the scenarios that hit each.</a:t>
            </a:r>
            <a:endParaRPr lang="en-US" sz="1500" dirty="0"/>
          </a:p>
        </p:txBody>
      </p:sp>
      <p:sp>
        <p:nvSpPr>
          <p:cNvPr id="13" name="Text 11"/>
          <p:cNvSpPr/>
          <p:nvPr/>
        </p:nvSpPr>
        <p:spPr>
          <a:xfrm>
            <a:off x="6527800" y="2866281"/>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Typical time to confirm fraud.</a:t>
            </a:r>
            <a:endParaRPr lang="en-US" sz="1500" dirty="0"/>
          </a:p>
        </p:txBody>
      </p:sp>
      <p:sp>
        <p:nvSpPr>
          <p:cNvPr id="14" name="Text 12"/>
          <p:cNvSpPr/>
          <p:nvPr/>
        </p:nvSpPr>
        <p:spPr>
          <a:xfrm>
            <a:off x="6527800" y="3142506"/>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Weekly data, if it exists.</a:t>
            </a:r>
            <a:endParaRPr lang="en-US" sz="1500" dirty="0"/>
          </a:p>
        </p:txBody>
      </p:sp>
      <p:sp>
        <p:nvSpPr>
          <p:cNvPr id="15" name="Text 13"/>
          <p:cNvSpPr/>
          <p:nvPr/>
        </p:nvSpPr>
        <p:spPr>
          <a:xfrm>
            <a:off x="6527800" y="3418731"/>
            <a:ext cx="470916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We then run the full analysis on the complete dataset and share the findings with you.</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APPENDIX · DEFINITIONS</a:t>
            </a:r>
            <a:endParaRPr lang="en-US" sz="1200" dirty="0"/>
          </a:p>
        </p:txBody>
      </p:sp>
      <p:sp>
        <p:nvSpPr>
          <p:cNvPr id="3" name="Text 1"/>
          <p:cNvSpPr/>
          <p:nvPr>
            <p:ph type="title"/>
          </p:nvPr>
        </p:nvSpPr>
        <p:spPr>
          <a:xfrm>
            <a:off x="812800" y="92452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Definitions and windows used in the analysis</a:t>
            </a:r>
            <a:endParaRPr lang="en-US" sz="3800" dirty="0"/>
          </a:p>
        </p:txBody>
      </p:sp>
      <p:sp>
        <p:nvSpPr>
          <p:cNvPr id="4" name="Shape 2"/>
          <p:cNvSpPr/>
          <p:nvPr/>
        </p:nvSpPr>
        <p:spPr>
          <a:xfrm>
            <a:off x="812800" y="1734741"/>
            <a:ext cx="5130800" cy="4412059"/>
          </a:xfrm>
          <a:prstGeom prst="rect">
            <a:avLst/>
          </a:prstGeom>
          <a:solidFill>
            <a:srgbClr val="FFFFFF"/>
          </a:solidFill>
          <a:ln/>
        </p:spPr>
      </p:sp>
      <p:sp>
        <p:nvSpPr>
          <p:cNvPr id="5" name="Text 3"/>
          <p:cNvSpPr/>
          <p:nvPr/>
        </p:nvSpPr>
        <p:spPr>
          <a:xfrm>
            <a:off x="1066800" y="198874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Precision</a:t>
            </a:r>
            <a:r>
              <a:rPr lang="en-US" sz="1400" dirty="0">
                <a:solidFill>
                  <a:srgbClr val="16202E"/>
                </a:solidFill>
                <a:latin typeface="Arial" pitchFamily="34" charset="0"/>
                <a:ea typeface="Arial" pitchFamily="34" charset="-122"/>
                <a:cs typeface="Arial" pitchFamily="34" charset="-120"/>
              </a:rPr>
              <a:t> = TP / (TP + FP)</a:t>
            </a:r>
            <a:endParaRPr lang="en-US" sz="1400" dirty="0"/>
          </a:p>
        </p:txBody>
      </p:sp>
      <p:sp>
        <p:nvSpPr>
          <p:cNvPr id="6" name="Text 4"/>
          <p:cNvSpPr/>
          <p:nvPr/>
        </p:nvSpPr>
        <p:spPr>
          <a:xfrm>
            <a:off x="1066800" y="233923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FP ratio</a:t>
            </a:r>
            <a:r>
              <a:rPr lang="en-US" sz="1400" dirty="0">
                <a:solidFill>
                  <a:srgbClr val="16202E"/>
                </a:solidFill>
                <a:latin typeface="Arial" pitchFamily="34" charset="0"/>
                <a:ea typeface="Arial" pitchFamily="34" charset="-122"/>
                <a:cs typeface="Arial" pitchFamily="34" charset="-120"/>
              </a:rPr>
              <a:t> = FP / (FP + TP) = 1 − precision</a:t>
            </a:r>
            <a:endParaRPr lang="en-US" sz="1400" dirty="0"/>
          </a:p>
        </p:txBody>
      </p:sp>
      <p:sp>
        <p:nvSpPr>
          <p:cNvPr id="7" name="Text 5"/>
          <p:cNvSpPr/>
          <p:nvPr/>
        </p:nvSpPr>
        <p:spPr>
          <a:xfrm>
            <a:off x="1066800" y="268972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Alerts per TP</a:t>
            </a:r>
            <a:r>
              <a:rPr lang="en-US" sz="1400" dirty="0">
                <a:solidFill>
                  <a:srgbClr val="16202E"/>
                </a:solidFill>
                <a:latin typeface="Arial" pitchFamily="34" charset="0"/>
                <a:ea typeface="Arial" pitchFamily="34" charset="-122"/>
                <a:cs typeface="Arial" pitchFamily="34" charset="-120"/>
              </a:rPr>
              <a:t> = (TP + FP) / TP</a:t>
            </a:r>
            <a:endParaRPr lang="en-US" sz="1400" dirty="0"/>
          </a:p>
        </p:txBody>
      </p:sp>
      <p:sp>
        <p:nvSpPr>
          <p:cNvPr id="8" name="Text 6"/>
          <p:cNvSpPr/>
          <p:nvPr/>
        </p:nvSpPr>
        <p:spPr>
          <a:xfrm>
            <a:off x="1066800" y="3040211"/>
            <a:ext cx="4761484"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Wilson 95% interval</a:t>
            </a:r>
            <a:r>
              <a:rPr lang="en-US" sz="1400" dirty="0">
                <a:solidFill>
                  <a:srgbClr val="16202E"/>
                </a:solidFill>
                <a:latin typeface="Arial" pitchFamily="34" charset="0"/>
                <a:ea typeface="Arial" pitchFamily="34" charset="-122"/>
                <a:cs typeface="Arial" pitchFamily="34" charset="-120"/>
              </a:rPr>
              <a:t> = (p + z²/2n ± z·√(p(1−p)/n + z²/4n²)) / (1 + z²/n)</a:t>
            </a:r>
            <a:endParaRPr lang="en-US" sz="1400" dirty="0"/>
          </a:p>
        </p:txBody>
      </p:sp>
      <p:sp>
        <p:nvSpPr>
          <p:cNvPr id="9" name="Text 7"/>
          <p:cNvSpPr/>
          <p:nvPr/>
        </p:nvSpPr>
        <p:spPr>
          <a:xfrm>
            <a:off x="1066800" y="3639592"/>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Zero-TP upper bound</a:t>
            </a:r>
            <a:r>
              <a:rPr lang="en-US" sz="1400" dirty="0">
                <a:solidFill>
                  <a:srgbClr val="16202E"/>
                </a:solidFill>
                <a:latin typeface="Arial" pitchFamily="34" charset="0"/>
                <a:ea typeface="Arial" pitchFamily="34" charset="-122"/>
                <a:cs typeface="Arial" pitchFamily="34" charset="-120"/>
              </a:rPr>
              <a:t> = z² / (n + z²)</a:t>
            </a:r>
            <a:endParaRPr lang="en-US" sz="1400" dirty="0"/>
          </a:p>
        </p:txBody>
      </p:sp>
      <p:sp>
        <p:nvSpPr>
          <p:cNvPr id="10" name="Shape 8"/>
          <p:cNvSpPr/>
          <p:nvPr/>
        </p:nvSpPr>
        <p:spPr>
          <a:xfrm>
            <a:off x="6248400" y="1734741"/>
            <a:ext cx="5130800" cy="4412059"/>
          </a:xfrm>
          <a:prstGeom prst="rect">
            <a:avLst/>
          </a:prstGeom>
          <a:solidFill>
            <a:srgbClr val="FFFFFF"/>
          </a:solidFill>
          <a:ln/>
        </p:spPr>
      </p:sp>
      <p:sp>
        <p:nvSpPr>
          <p:cNvPr id="11" name="Text 9"/>
          <p:cNvSpPr/>
          <p:nvPr/>
        </p:nvSpPr>
        <p:spPr>
          <a:xfrm>
            <a:off x="6502400" y="198874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Recent (3M)</a:t>
            </a:r>
            <a:r>
              <a:rPr lang="en-US" sz="1400" dirty="0">
                <a:solidFill>
                  <a:srgbClr val="16202E"/>
                </a:solidFill>
                <a:latin typeface="Arial" pitchFamily="34" charset="0"/>
                <a:ea typeface="Arial" pitchFamily="34" charset="-122"/>
                <a:cs typeface="Arial" pitchFamily="34" charset="-120"/>
              </a:rPr>
              <a:t> = months 1–3</a:t>
            </a:r>
            <a:endParaRPr lang="en-US" sz="1400" dirty="0"/>
          </a:p>
        </p:txBody>
      </p:sp>
      <p:sp>
        <p:nvSpPr>
          <p:cNvPr id="12" name="Text 10"/>
          <p:cNvSpPr/>
          <p:nvPr/>
        </p:nvSpPr>
        <p:spPr>
          <a:xfrm>
            <a:off x="6502400" y="233923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Prior 3M</a:t>
            </a:r>
            <a:r>
              <a:rPr lang="en-US" sz="1400" dirty="0">
                <a:solidFill>
                  <a:srgbClr val="16202E"/>
                </a:solidFill>
                <a:latin typeface="Arial" pitchFamily="34" charset="0"/>
                <a:ea typeface="Arial" pitchFamily="34" charset="-122"/>
                <a:cs typeface="Arial" pitchFamily="34" charset="-120"/>
              </a:rPr>
              <a:t> = months 4–6</a:t>
            </a:r>
            <a:endParaRPr lang="en-US" sz="1400" dirty="0"/>
          </a:p>
        </p:txBody>
      </p:sp>
      <p:sp>
        <p:nvSpPr>
          <p:cNvPr id="13" name="Text 11"/>
          <p:cNvSpPr/>
          <p:nvPr/>
        </p:nvSpPr>
        <p:spPr>
          <a:xfrm>
            <a:off x="6502400" y="268972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6M</a:t>
            </a:r>
            <a:r>
              <a:rPr lang="en-US" sz="1400" dirty="0">
                <a:solidFill>
                  <a:srgbClr val="16202E"/>
                </a:solidFill>
                <a:latin typeface="Arial" pitchFamily="34" charset="0"/>
                <a:ea typeface="Arial" pitchFamily="34" charset="-122"/>
                <a:cs typeface="Arial" pitchFamily="34" charset="-120"/>
              </a:rPr>
              <a:t> = months 1–6</a:t>
            </a:r>
            <a:endParaRPr lang="en-US" sz="1400" dirty="0"/>
          </a:p>
        </p:txBody>
      </p:sp>
      <p:sp>
        <p:nvSpPr>
          <p:cNvPr id="14" name="Text 12"/>
          <p:cNvSpPr/>
          <p:nvPr/>
        </p:nvSpPr>
        <p:spPr>
          <a:xfrm>
            <a:off x="6502400" y="304021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Month 0</a:t>
            </a:r>
            <a:r>
              <a:rPr lang="en-US" sz="1400" dirty="0">
                <a:solidFill>
                  <a:srgbClr val="16202E"/>
                </a:solidFill>
                <a:latin typeface="Arial" pitchFamily="34" charset="0"/>
                <a:ea typeface="Arial" pitchFamily="34" charset="-122"/>
                <a:cs typeface="Arial" pitchFamily="34" charset="-120"/>
              </a:rPr>
              <a:t> = current, partial, excluded</a:t>
            </a:r>
            <a:endParaRPr lang="en-US" sz="1400" dirty="0"/>
          </a:p>
        </p:txBody>
      </p:sp>
      <p:sp>
        <p:nvSpPr>
          <p:cNvPr id="15" name="Text 13"/>
          <p:cNvSpPr/>
          <p:nvPr/>
        </p:nvSpPr>
        <p:spPr>
          <a:xfrm>
            <a:off x="6502400" y="3390702"/>
            <a:ext cx="4876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NULL time frame</a:t>
            </a:r>
            <a:r>
              <a:rPr lang="en-US" sz="1400" dirty="0">
                <a:solidFill>
                  <a:srgbClr val="16202E"/>
                </a:solidFill>
                <a:latin typeface="Arial" pitchFamily="34" charset="0"/>
                <a:ea typeface="Arial" pitchFamily="34" charset="-122"/>
                <a:cs typeface="Arial" pitchFamily="34" charset="-120"/>
              </a:rPr>
              <a:t> rows are excluded from monthly figures</a:t>
            </a:r>
            <a:endParaRPr lang="en-US" sz="1400" dirty="0"/>
          </a:p>
        </p:txBody>
      </p:sp>
      <p:sp>
        <p:nvSpPr>
          <p:cNvPr id="16" name="Text 14"/>
          <p:cNvSpPr/>
          <p:nvPr/>
        </p:nvSpPr>
        <p:spPr>
          <a:xfrm>
            <a:off x="6502400" y="3741192"/>
            <a:ext cx="4761484"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Data</a:t>
            </a:r>
            <a:r>
              <a:rPr lang="en-US" sz="1400" dirty="0">
                <a:solidFill>
                  <a:srgbClr val="16202E"/>
                </a:solidFill>
                <a:latin typeface="Arial" pitchFamily="34" charset="0"/>
                <a:ea typeface="Arial" pitchFamily="34" charset="-122"/>
                <a:cs typeface="Arial" pitchFamily="34" charset="-120"/>
              </a:rPr>
              <a:t> = 739 records in long format by scenario, time frame, volume, result and hit type</a:t>
            </a:r>
            <a:endParaRPr lang="en-US" sz="1400" dirty="0"/>
          </a:p>
        </p:txBody>
      </p:sp>
    </p:spTree>
  </p:cSld>
  <p:clrMapOvr>
    <a:masterClrMapping/>
  </p:clrMapOvr>
</p:sld>
</file>

<file path=ppt/theme/theme1.xml><?xml version="1.0" encoding="utf-8"?>
<a:theme xmlns:a="http://schemas.openxmlformats.org/drawingml/2006/main" name="ROVA monitoring review">
  <a:themeElements>
    <a:clrScheme name="ROVA monitoring review">
      <a:dk1>
        <a:srgbClr val="16202E"/>
      </a:dk1>
      <a:lt1>
        <a:srgbClr val="F6F4EF"/>
      </a:lt1>
      <a:dk2>
        <a:srgbClr val="4E555E"/>
      </a:dk2>
      <a:lt2>
        <a:srgbClr val="E0DFDC"/>
      </a:lt2>
      <a:accent1>
        <a:srgbClr val="2B7A93"/>
      </a:accent1>
      <a:accent2>
        <a:srgbClr val="7FC1D6"/>
      </a:accent2>
      <a:accent3>
        <a:srgbClr val="2E8B57"/>
      </a:accent3>
      <a:accent4>
        <a:srgbClr val="E0A526"/>
      </a:accent4>
      <a:accent5>
        <a:srgbClr val="C0392B"/>
      </a:accent5>
      <a:accent6>
        <a:srgbClr val="8A6A2F"/>
      </a:accent6>
      <a:hlink>
        <a:srgbClr val="0563C1"/>
      </a:hlink>
      <a:folHlink>
        <a:srgbClr val="954F72"/>
      </a:folHlink>
    </a:clrScheme>
    <a:fontScheme name="ROVA monitoring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ROVA monitoring review</dc:title>
  <dc:subject/>
  <dc:creator/>
  <cp:lastModifiedBy/>
  <cp:revision>1</cp:revision>
  <dcterms:created xsi:type="dcterms:W3CDTF">2026-10-26T16:33:29Z</dcterms:created>
  <dcterms:modified xsi:type="dcterms:W3CDTF">2026-10-26T16:33:29Z</dcterms:modified>
</cp:coreProperties>
</file>